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61" r:id="rId4"/>
    <p:sldId id="262" r:id="rId5"/>
    <p:sldId id="263" r:id="rId6"/>
    <p:sldId id="264" r:id="rId7"/>
    <p:sldId id="266" r:id="rId8"/>
    <p:sldId id="267" r:id="rId9"/>
    <p:sldId id="268" r:id="rId10"/>
    <p:sldId id="269" r:id="rId11"/>
    <p:sldId id="270" r:id="rId12"/>
    <p:sldId id="271" r:id="rId13"/>
    <p:sldId id="272" r:id="rId14"/>
    <p:sldId id="273" r:id="rId15"/>
    <p:sldId id="274" r:id="rId16"/>
    <p:sldId id="275" r:id="rId17"/>
    <p:sldId id="276" r:id="rId18"/>
    <p:sldId id="277"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49A907-0A32-46AB-A3CA-9D2FF5656905}" v="7" dt="2026-05-04T21:00:21.44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7" d="100"/>
          <a:sy n="77" d="100"/>
        </p:scale>
        <p:origin x="77" y="1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F485B-1BDF-056E-947A-A25CD4589EA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27C3271-DC34-02DF-5D0A-599A76DD3D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F857911-5632-0E98-9202-244938DA4915}"/>
              </a:ext>
            </a:extLst>
          </p:cNvPr>
          <p:cNvSpPr>
            <a:spLocks noGrp="1"/>
          </p:cNvSpPr>
          <p:nvPr>
            <p:ph type="dt" sz="half" idx="10"/>
          </p:nvPr>
        </p:nvSpPr>
        <p:spPr/>
        <p:txBody>
          <a:bodyPr/>
          <a:lstStyle/>
          <a:p>
            <a:fld id="{86363FA3-CE44-49E0-8354-07FB39F117DD}" type="datetimeFigureOut">
              <a:rPr lang="en-IN" smtClean="0"/>
              <a:t>07-05-2026</a:t>
            </a:fld>
            <a:endParaRPr lang="en-IN"/>
          </a:p>
        </p:txBody>
      </p:sp>
      <p:sp>
        <p:nvSpPr>
          <p:cNvPr id="5" name="Footer Placeholder 4">
            <a:extLst>
              <a:ext uri="{FF2B5EF4-FFF2-40B4-BE49-F238E27FC236}">
                <a16:creationId xmlns:a16="http://schemas.microsoft.com/office/drawing/2014/main" id="{A472C32C-C844-4C7B-4092-AA935D4A16D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0E30733-FEE1-0CD4-36AC-95B8D18B28F9}"/>
              </a:ext>
            </a:extLst>
          </p:cNvPr>
          <p:cNvSpPr>
            <a:spLocks noGrp="1"/>
          </p:cNvSpPr>
          <p:nvPr>
            <p:ph type="sldNum" sz="quarter" idx="12"/>
          </p:nvPr>
        </p:nvSpPr>
        <p:spPr/>
        <p:txBody>
          <a:bodyPr/>
          <a:lstStyle/>
          <a:p>
            <a:fld id="{FBECCE2C-6E46-49B8-B74C-AF0FA1CBD100}" type="slidenum">
              <a:rPr lang="en-IN" smtClean="0"/>
              <a:t>‹#›</a:t>
            </a:fld>
            <a:endParaRPr lang="en-IN"/>
          </a:p>
        </p:txBody>
      </p:sp>
    </p:spTree>
    <p:extLst>
      <p:ext uri="{BB962C8B-B14F-4D97-AF65-F5344CB8AC3E}">
        <p14:creationId xmlns:p14="http://schemas.microsoft.com/office/powerpoint/2010/main" val="41028185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76798-B475-9E27-CA71-0F0E72259A2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45257DF-4834-F2AC-415A-30EDC90328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5EDDCD9-0365-E94C-DF92-52677880ABF0}"/>
              </a:ext>
            </a:extLst>
          </p:cNvPr>
          <p:cNvSpPr>
            <a:spLocks noGrp="1"/>
          </p:cNvSpPr>
          <p:nvPr>
            <p:ph type="dt" sz="half" idx="10"/>
          </p:nvPr>
        </p:nvSpPr>
        <p:spPr/>
        <p:txBody>
          <a:bodyPr/>
          <a:lstStyle/>
          <a:p>
            <a:fld id="{86363FA3-CE44-49E0-8354-07FB39F117DD}" type="datetimeFigureOut">
              <a:rPr lang="en-IN" smtClean="0"/>
              <a:t>07-05-2026</a:t>
            </a:fld>
            <a:endParaRPr lang="en-IN"/>
          </a:p>
        </p:txBody>
      </p:sp>
      <p:sp>
        <p:nvSpPr>
          <p:cNvPr id="5" name="Footer Placeholder 4">
            <a:extLst>
              <a:ext uri="{FF2B5EF4-FFF2-40B4-BE49-F238E27FC236}">
                <a16:creationId xmlns:a16="http://schemas.microsoft.com/office/drawing/2014/main" id="{4D713ADA-DD8B-0130-180B-F0A0255AAB1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F2BF70A-D246-D188-FBE8-AF27B2B31A74}"/>
              </a:ext>
            </a:extLst>
          </p:cNvPr>
          <p:cNvSpPr>
            <a:spLocks noGrp="1"/>
          </p:cNvSpPr>
          <p:nvPr>
            <p:ph type="sldNum" sz="quarter" idx="12"/>
          </p:nvPr>
        </p:nvSpPr>
        <p:spPr/>
        <p:txBody>
          <a:bodyPr/>
          <a:lstStyle/>
          <a:p>
            <a:fld id="{FBECCE2C-6E46-49B8-B74C-AF0FA1CBD100}" type="slidenum">
              <a:rPr lang="en-IN" smtClean="0"/>
              <a:t>‹#›</a:t>
            </a:fld>
            <a:endParaRPr lang="en-IN"/>
          </a:p>
        </p:txBody>
      </p:sp>
    </p:spTree>
    <p:extLst>
      <p:ext uri="{BB962C8B-B14F-4D97-AF65-F5344CB8AC3E}">
        <p14:creationId xmlns:p14="http://schemas.microsoft.com/office/powerpoint/2010/main" val="13244246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1CB69-2777-B806-1D61-DC895197CFF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7DB4976-2FED-0C59-C997-AC4723AC439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624D65-D9F4-0C22-EDF3-130100291CA8}"/>
              </a:ext>
            </a:extLst>
          </p:cNvPr>
          <p:cNvSpPr>
            <a:spLocks noGrp="1"/>
          </p:cNvSpPr>
          <p:nvPr>
            <p:ph type="dt" sz="half" idx="10"/>
          </p:nvPr>
        </p:nvSpPr>
        <p:spPr/>
        <p:txBody>
          <a:bodyPr/>
          <a:lstStyle/>
          <a:p>
            <a:fld id="{86363FA3-CE44-49E0-8354-07FB39F117DD}" type="datetimeFigureOut">
              <a:rPr lang="en-IN" smtClean="0"/>
              <a:t>07-05-2026</a:t>
            </a:fld>
            <a:endParaRPr lang="en-IN"/>
          </a:p>
        </p:txBody>
      </p:sp>
      <p:sp>
        <p:nvSpPr>
          <p:cNvPr id="5" name="Footer Placeholder 4">
            <a:extLst>
              <a:ext uri="{FF2B5EF4-FFF2-40B4-BE49-F238E27FC236}">
                <a16:creationId xmlns:a16="http://schemas.microsoft.com/office/drawing/2014/main" id="{889ABE02-F10D-FAA4-916B-AFA968D9F98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047DA8D-97F5-472A-E5F7-90B642FE2F09}"/>
              </a:ext>
            </a:extLst>
          </p:cNvPr>
          <p:cNvSpPr>
            <a:spLocks noGrp="1"/>
          </p:cNvSpPr>
          <p:nvPr>
            <p:ph type="sldNum" sz="quarter" idx="12"/>
          </p:nvPr>
        </p:nvSpPr>
        <p:spPr/>
        <p:txBody>
          <a:bodyPr/>
          <a:lstStyle/>
          <a:p>
            <a:fld id="{FBECCE2C-6E46-49B8-B74C-AF0FA1CBD100}" type="slidenum">
              <a:rPr lang="en-IN" smtClean="0"/>
              <a:t>‹#›</a:t>
            </a:fld>
            <a:endParaRPr lang="en-IN"/>
          </a:p>
        </p:txBody>
      </p:sp>
    </p:spTree>
    <p:extLst>
      <p:ext uri="{BB962C8B-B14F-4D97-AF65-F5344CB8AC3E}">
        <p14:creationId xmlns:p14="http://schemas.microsoft.com/office/powerpoint/2010/main" val="15735974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95C51-361B-5BD5-9C10-D3E12094D8B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5349B46-63D0-5996-9676-7B5B4660320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130E71B-4E40-BAF7-F53F-1A9B67EED74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3A78342-9FFA-C34B-4712-D36864C9077D}"/>
              </a:ext>
            </a:extLst>
          </p:cNvPr>
          <p:cNvSpPr>
            <a:spLocks noGrp="1"/>
          </p:cNvSpPr>
          <p:nvPr>
            <p:ph type="dt" sz="half" idx="10"/>
          </p:nvPr>
        </p:nvSpPr>
        <p:spPr/>
        <p:txBody>
          <a:bodyPr/>
          <a:lstStyle/>
          <a:p>
            <a:fld id="{86363FA3-CE44-49E0-8354-07FB39F117DD}" type="datetimeFigureOut">
              <a:rPr lang="en-IN" smtClean="0"/>
              <a:t>07-05-2026</a:t>
            </a:fld>
            <a:endParaRPr lang="en-IN"/>
          </a:p>
        </p:txBody>
      </p:sp>
      <p:sp>
        <p:nvSpPr>
          <p:cNvPr id="6" name="Footer Placeholder 5">
            <a:extLst>
              <a:ext uri="{FF2B5EF4-FFF2-40B4-BE49-F238E27FC236}">
                <a16:creationId xmlns:a16="http://schemas.microsoft.com/office/drawing/2014/main" id="{411E8C25-06B9-DDB2-1541-E7A186D262A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E063351-0FBF-E379-E830-35E906B8127F}"/>
              </a:ext>
            </a:extLst>
          </p:cNvPr>
          <p:cNvSpPr>
            <a:spLocks noGrp="1"/>
          </p:cNvSpPr>
          <p:nvPr>
            <p:ph type="sldNum" sz="quarter" idx="12"/>
          </p:nvPr>
        </p:nvSpPr>
        <p:spPr/>
        <p:txBody>
          <a:bodyPr/>
          <a:lstStyle/>
          <a:p>
            <a:fld id="{FBECCE2C-6E46-49B8-B74C-AF0FA1CBD100}" type="slidenum">
              <a:rPr lang="en-IN" smtClean="0"/>
              <a:t>‹#›</a:t>
            </a:fld>
            <a:endParaRPr lang="en-IN"/>
          </a:p>
        </p:txBody>
      </p:sp>
    </p:spTree>
    <p:extLst>
      <p:ext uri="{BB962C8B-B14F-4D97-AF65-F5344CB8AC3E}">
        <p14:creationId xmlns:p14="http://schemas.microsoft.com/office/powerpoint/2010/main" val="12670955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86714-4B0B-CEE3-253D-DF2A7DC3E9F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7A5F006-44D2-E902-4F0F-E0A77ABD787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30777C9-3BBD-C6FF-F676-A847B030875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FF7CB38-CB91-EFCB-FCD2-1B13B294606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21ECC62-B318-1684-C87F-94F266D6A9F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78BBB1B-C7D9-2A76-5859-61E6236A789A}"/>
              </a:ext>
            </a:extLst>
          </p:cNvPr>
          <p:cNvSpPr>
            <a:spLocks noGrp="1"/>
          </p:cNvSpPr>
          <p:nvPr>
            <p:ph type="dt" sz="half" idx="10"/>
          </p:nvPr>
        </p:nvSpPr>
        <p:spPr/>
        <p:txBody>
          <a:bodyPr/>
          <a:lstStyle/>
          <a:p>
            <a:fld id="{86363FA3-CE44-49E0-8354-07FB39F117DD}" type="datetimeFigureOut">
              <a:rPr lang="en-IN" smtClean="0"/>
              <a:t>07-05-2026</a:t>
            </a:fld>
            <a:endParaRPr lang="en-IN"/>
          </a:p>
        </p:txBody>
      </p:sp>
      <p:sp>
        <p:nvSpPr>
          <p:cNvPr id="8" name="Footer Placeholder 7">
            <a:extLst>
              <a:ext uri="{FF2B5EF4-FFF2-40B4-BE49-F238E27FC236}">
                <a16:creationId xmlns:a16="http://schemas.microsoft.com/office/drawing/2014/main" id="{FDD69A58-160D-25DC-9515-3D84E0134D9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8691B72-CA2D-E08F-0D88-9E90F0FD776B}"/>
              </a:ext>
            </a:extLst>
          </p:cNvPr>
          <p:cNvSpPr>
            <a:spLocks noGrp="1"/>
          </p:cNvSpPr>
          <p:nvPr>
            <p:ph type="sldNum" sz="quarter" idx="12"/>
          </p:nvPr>
        </p:nvSpPr>
        <p:spPr/>
        <p:txBody>
          <a:bodyPr/>
          <a:lstStyle/>
          <a:p>
            <a:fld id="{FBECCE2C-6E46-49B8-B74C-AF0FA1CBD100}" type="slidenum">
              <a:rPr lang="en-IN" smtClean="0"/>
              <a:t>‹#›</a:t>
            </a:fld>
            <a:endParaRPr lang="en-IN"/>
          </a:p>
        </p:txBody>
      </p:sp>
    </p:spTree>
    <p:extLst>
      <p:ext uri="{BB962C8B-B14F-4D97-AF65-F5344CB8AC3E}">
        <p14:creationId xmlns:p14="http://schemas.microsoft.com/office/powerpoint/2010/main" val="8392162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CC67B-0D9E-75F6-AF98-B97DD137A28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4745234-3ECC-430C-E16E-7F381101E816}"/>
              </a:ext>
            </a:extLst>
          </p:cNvPr>
          <p:cNvSpPr>
            <a:spLocks noGrp="1"/>
          </p:cNvSpPr>
          <p:nvPr>
            <p:ph type="dt" sz="half" idx="10"/>
          </p:nvPr>
        </p:nvSpPr>
        <p:spPr/>
        <p:txBody>
          <a:bodyPr/>
          <a:lstStyle/>
          <a:p>
            <a:fld id="{86363FA3-CE44-49E0-8354-07FB39F117DD}" type="datetimeFigureOut">
              <a:rPr lang="en-IN" smtClean="0"/>
              <a:t>07-05-2026</a:t>
            </a:fld>
            <a:endParaRPr lang="en-IN"/>
          </a:p>
        </p:txBody>
      </p:sp>
      <p:sp>
        <p:nvSpPr>
          <p:cNvPr id="4" name="Footer Placeholder 3">
            <a:extLst>
              <a:ext uri="{FF2B5EF4-FFF2-40B4-BE49-F238E27FC236}">
                <a16:creationId xmlns:a16="http://schemas.microsoft.com/office/drawing/2014/main" id="{565193B7-3DC8-F820-B38A-6050C1DF725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D742A1B-62E8-B09B-FD93-432E2594A13A}"/>
              </a:ext>
            </a:extLst>
          </p:cNvPr>
          <p:cNvSpPr>
            <a:spLocks noGrp="1"/>
          </p:cNvSpPr>
          <p:nvPr>
            <p:ph type="sldNum" sz="quarter" idx="12"/>
          </p:nvPr>
        </p:nvSpPr>
        <p:spPr/>
        <p:txBody>
          <a:bodyPr/>
          <a:lstStyle/>
          <a:p>
            <a:fld id="{FBECCE2C-6E46-49B8-B74C-AF0FA1CBD100}" type="slidenum">
              <a:rPr lang="en-IN" smtClean="0"/>
              <a:t>‹#›</a:t>
            </a:fld>
            <a:endParaRPr lang="en-IN"/>
          </a:p>
        </p:txBody>
      </p:sp>
    </p:spTree>
    <p:extLst>
      <p:ext uri="{BB962C8B-B14F-4D97-AF65-F5344CB8AC3E}">
        <p14:creationId xmlns:p14="http://schemas.microsoft.com/office/powerpoint/2010/main" val="14580776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361B46-116B-BBC1-8D9E-59067C349E03}"/>
              </a:ext>
            </a:extLst>
          </p:cNvPr>
          <p:cNvSpPr>
            <a:spLocks noGrp="1"/>
          </p:cNvSpPr>
          <p:nvPr>
            <p:ph type="dt" sz="half" idx="10"/>
          </p:nvPr>
        </p:nvSpPr>
        <p:spPr/>
        <p:txBody>
          <a:bodyPr/>
          <a:lstStyle/>
          <a:p>
            <a:fld id="{86363FA3-CE44-49E0-8354-07FB39F117DD}" type="datetimeFigureOut">
              <a:rPr lang="en-IN" smtClean="0"/>
              <a:t>07-05-2026</a:t>
            </a:fld>
            <a:endParaRPr lang="en-IN"/>
          </a:p>
        </p:txBody>
      </p:sp>
      <p:sp>
        <p:nvSpPr>
          <p:cNvPr id="3" name="Footer Placeholder 2">
            <a:extLst>
              <a:ext uri="{FF2B5EF4-FFF2-40B4-BE49-F238E27FC236}">
                <a16:creationId xmlns:a16="http://schemas.microsoft.com/office/drawing/2014/main" id="{396B82AB-83B9-F0A9-7EDD-F2486D06D7C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A14CBC0-6B3D-5D91-1285-373036F3A17F}"/>
              </a:ext>
            </a:extLst>
          </p:cNvPr>
          <p:cNvSpPr>
            <a:spLocks noGrp="1"/>
          </p:cNvSpPr>
          <p:nvPr>
            <p:ph type="sldNum" sz="quarter" idx="12"/>
          </p:nvPr>
        </p:nvSpPr>
        <p:spPr/>
        <p:txBody>
          <a:bodyPr/>
          <a:lstStyle/>
          <a:p>
            <a:fld id="{FBECCE2C-6E46-49B8-B74C-AF0FA1CBD100}" type="slidenum">
              <a:rPr lang="en-IN" smtClean="0"/>
              <a:t>‹#›</a:t>
            </a:fld>
            <a:endParaRPr lang="en-IN"/>
          </a:p>
        </p:txBody>
      </p:sp>
    </p:spTree>
    <p:extLst>
      <p:ext uri="{BB962C8B-B14F-4D97-AF65-F5344CB8AC3E}">
        <p14:creationId xmlns:p14="http://schemas.microsoft.com/office/powerpoint/2010/main" val="5536454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A153F-04D5-4305-8B06-47842CE36A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2EBDCB1-74C6-B77C-81DF-9FC3183774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0F68667-DDA5-0E8A-E27C-2F56AAB60F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85A3A3-1463-2ECA-6054-53A7C1463050}"/>
              </a:ext>
            </a:extLst>
          </p:cNvPr>
          <p:cNvSpPr>
            <a:spLocks noGrp="1"/>
          </p:cNvSpPr>
          <p:nvPr>
            <p:ph type="dt" sz="half" idx="10"/>
          </p:nvPr>
        </p:nvSpPr>
        <p:spPr/>
        <p:txBody>
          <a:bodyPr/>
          <a:lstStyle/>
          <a:p>
            <a:fld id="{86363FA3-CE44-49E0-8354-07FB39F117DD}" type="datetimeFigureOut">
              <a:rPr lang="en-IN" smtClean="0"/>
              <a:t>07-05-2026</a:t>
            </a:fld>
            <a:endParaRPr lang="en-IN"/>
          </a:p>
        </p:txBody>
      </p:sp>
      <p:sp>
        <p:nvSpPr>
          <p:cNvPr id="6" name="Footer Placeholder 5">
            <a:extLst>
              <a:ext uri="{FF2B5EF4-FFF2-40B4-BE49-F238E27FC236}">
                <a16:creationId xmlns:a16="http://schemas.microsoft.com/office/drawing/2014/main" id="{8BA2CDCE-88AD-B5E7-B184-457604C0CAF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99C8407-6624-4F01-2B1E-2EE578A048D7}"/>
              </a:ext>
            </a:extLst>
          </p:cNvPr>
          <p:cNvSpPr>
            <a:spLocks noGrp="1"/>
          </p:cNvSpPr>
          <p:nvPr>
            <p:ph type="sldNum" sz="quarter" idx="12"/>
          </p:nvPr>
        </p:nvSpPr>
        <p:spPr/>
        <p:txBody>
          <a:bodyPr/>
          <a:lstStyle/>
          <a:p>
            <a:fld id="{FBECCE2C-6E46-49B8-B74C-AF0FA1CBD100}" type="slidenum">
              <a:rPr lang="en-IN" smtClean="0"/>
              <a:t>‹#›</a:t>
            </a:fld>
            <a:endParaRPr lang="en-IN"/>
          </a:p>
        </p:txBody>
      </p:sp>
    </p:spTree>
    <p:extLst>
      <p:ext uri="{BB962C8B-B14F-4D97-AF65-F5344CB8AC3E}">
        <p14:creationId xmlns:p14="http://schemas.microsoft.com/office/powerpoint/2010/main" val="14506090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FE2D1-654B-D7A5-6CC4-6ABB3D7419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52194C4-F5D8-EC89-BF13-D1F85361104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A2C3727-0CDF-59A4-4A94-BE38D91FF8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AB5133-DF09-6049-D71E-434BE11E8119}"/>
              </a:ext>
            </a:extLst>
          </p:cNvPr>
          <p:cNvSpPr>
            <a:spLocks noGrp="1"/>
          </p:cNvSpPr>
          <p:nvPr>
            <p:ph type="dt" sz="half" idx="10"/>
          </p:nvPr>
        </p:nvSpPr>
        <p:spPr/>
        <p:txBody>
          <a:bodyPr/>
          <a:lstStyle/>
          <a:p>
            <a:fld id="{86363FA3-CE44-49E0-8354-07FB39F117DD}" type="datetimeFigureOut">
              <a:rPr lang="en-IN" smtClean="0"/>
              <a:t>07-05-2026</a:t>
            </a:fld>
            <a:endParaRPr lang="en-IN"/>
          </a:p>
        </p:txBody>
      </p:sp>
      <p:sp>
        <p:nvSpPr>
          <p:cNvPr id="6" name="Footer Placeholder 5">
            <a:extLst>
              <a:ext uri="{FF2B5EF4-FFF2-40B4-BE49-F238E27FC236}">
                <a16:creationId xmlns:a16="http://schemas.microsoft.com/office/drawing/2014/main" id="{127421B0-E082-1575-28C8-FFAD8DC0085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669E0B8-9853-060E-F9DD-72FAFE167E23}"/>
              </a:ext>
            </a:extLst>
          </p:cNvPr>
          <p:cNvSpPr>
            <a:spLocks noGrp="1"/>
          </p:cNvSpPr>
          <p:nvPr>
            <p:ph type="sldNum" sz="quarter" idx="12"/>
          </p:nvPr>
        </p:nvSpPr>
        <p:spPr/>
        <p:txBody>
          <a:bodyPr/>
          <a:lstStyle/>
          <a:p>
            <a:fld id="{FBECCE2C-6E46-49B8-B74C-AF0FA1CBD100}" type="slidenum">
              <a:rPr lang="en-IN" smtClean="0"/>
              <a:t>‹#›</a:t>
            </a:fld>
            <a:endParaRPr lang="en-IN"/>
          </a:p>
        </p:txBody>
      </p:sp>
    </p:spTree>
    <p:extLst>
      <p:ext uri="{BB962C8B-B14F-4D97-AF65-F5344CB8AC3E}">
        <p14:creationId xmlns:p14="http://schemas.microsoft.com/office/powerpoint/2010/main" val="34417979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AC072-246C-3A0A-DF2A-CF69C73B2F0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B9E5363-5FEB-A462-D336-CEC164D5944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303744B-33D1-6463-03BE-F61A6FCA160F}"/>
              </a:ext>
            </a:extLst>
          </p:cNvPr>
          <p:cNvSpPr>
            <a:spLocks noGrp="1"/>
          </p:cNvSpPr>
          <p:nvPr>
            <p:ph type="dt" sz="half" idx="10"/>
          </p:nvPr>
        </p:nvSpPr>
        <p:spPr/>
        <p:txBody>
          <a:bodyPr/>
          <a:lstStyle/>
          <a:p>
            <a:fld id="{86363FA3-CE44-49E0-8354-07FB39F117DD}" type="datetimeFigureOut">
              <a:rPr lang="en-IN" smtClean="0"/>
              <a:t>07-05-2026</a:t>
            </a:fld>
            <a:endParaRPr lang="en-IN"/>
          </a:p>
        </p:txBody>
      </p:sp>
      <p:sp>
        <p:nvSpPr>
          <p:cNvPr id="5" name="Footer Placeholder 4">
            <a:extLst>
              <a:ext uri="{FF2B5EF4-FFF2-40B4-BE49-F238E27FC236}">
                <a16:creationId xmlns:a16="http://schemas.microsoft.com/office/drawing/2014/main" id="{26E4C4E9-21E7-011B-B19D-97DF058BACF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8BAF6D2-8C3A-EFD2-54E4-4B09599F73D4}"/>
              </a:ext>
            </a:extLst>
          </p:cNvPr>
          <p:cNvSpPr>
            <a:spLocks noGrp="1"/>
          </p:cNvSpPr>
          <p:nvPr>
            <p:ph type="sldNum" sz="quarter" idx="12"/>
          </p:nvPr>
        </p:nvSpPr>
        <p:spPr/>
        <p:txBody>
          <a:bodyPr/>
          <a:lstStyle/>
          <a:p>
            <a:fld id="{FBECCE2C-6E46-49B8-B74C-AF0FA1CBD100}" type="slidenum">
              <a:rPr lang="en-IN" smtClean="0"/>
              <a:t>‹#›</a:t>
            </a:fld>
            <a:endParaRPr lang="en-IN"/>
          </a:p>
        </p:txBody>
      </p:sp>
    </p:spTree>
    <p:extLst>
      <p:ext uri="{BB962C8B-B14F-4D97-AF65-F5344CB8AC3E}">
        <p14:creationId xmlns:p14="http://schemas.microsoft.com/office/powerpoint/2010/main" val="611344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7C946C4-57E7-3993-9717-8CB48D17AA9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DF9F308-EB80-0EF2-D821-E66024B9D3B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097EC2D-3030-4441-5B4B-0A3573FFAA37}"/>
              </a:ext>
            </a:extLst>
          </p:cNvPr>
          <p:cNvSpPr>
            <a:spLocks noGrp="1"/>
          </p:cNvSpPr>
          <p:nvPr>
            <p:ph type="dt" sz="half" idx="10"/>
          </p:nvPr>
        </p:nvSpPr>
        <p:spPr/>
        <p:txBody>
          <a:bodyPr/>
          <a:lstStyle/>
          <a:p>
            <a:fld id="{86363FA3-CE44-49E0-8354-07FB39F117DD}" type="datetimeFigureOut">
              <a:rPr lang="en-IN" smtClean="0"/>
              <a:t>07-05-2026</a:t>
            </a:fld>
            <a:endParaRPr lang="en-IN"/>
          </a:p>
        </p:txBody>
      </p:sp>
      <p:sp>
        <p:nvSpPr>
          <p:cNvPr id="5" name="Footer Placeholder 4">
            <a:extLst>
              <a:ext uri="{FF2B5EF4-FFF2-40B4-BE49-F238E27FC236}">
                <a16:creationId xmlns:a16="http://schemas.microsoft.com/office/drawing/2014/main" id="{4B614C67-A153-1AFC-C229-A7D914144CF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92F82D6-1973-2A5F-C90C-5517B58BE45F}"/>
              </a:ext>
            </a:extLst>
          </p:cNvPr>
          <p:cNvSpPr>
            <a:spLocks noGrp="1"/>
          </p:cNvSpPr>
          <p:nvPr>
            <p:ph type="sldNum" sz="quarter" idx="12"/>
          </p:nvPr>
        </p:nvSpPr>
        <p:spPr/>
        <p:txBody>
          <a:bodyPr/>
          <a:lstStyle/>
          <a:p>
            <a:fld id="{FBECCE2C-6E46-49B8-B74C-AF0FA1CBD100}" type="slidenum">
              <a:rPr lang="en-IN" smtClean="0"/>
              <a:t>‹#›</a:t>
            </a:fld>
            <a:endParaRPr lang="en-IN"/>
          </a:p>
        </p:txBody>
      </p:sp>
    </p:spTree>
    <p:extLst>
      <p:ext uri="{BB962C8B-B14F-4D97-AF65-F5344CB8AC3E}">
        <p14:creationId xmlns:p14="http://schemas.microsoft.com/office/powerpoint/2010/main" val="35574068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085F57D-89FE-0B43-2DA9-9008AD01DFA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1DECAA0-E027-EE56-1F30-CC435A6E670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1A00942-4E92-C580-F893-FA885B8479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363FA3-CE44-49E0-8354-07FB39F117DD}" type="datetimeFigureOut">
              <a:rPr lang="en-IN" smtClean="0"/>
              <a:t>07-05-2026</a:t>
            </a:fld>
            <a:endParaRPr lang="en-IN"/>
          </a:p>
        </p:txBody>
      </p:sp>
      <p:sp>
        <p:nvSpPr>
          <p:cNvPr id="5" name="Footer Placeholder 4">
            <a:extLst>
              <a:ext uri="{FF2B5EF4-FFF2-40B4-BE49-F238E27FC236}">
                <a16:creationId xmlns:a16="http://schemas.microsoft.com/office/drawing/2014/main" id="{C70AC769-28E8-3E8B-D2A4-0C17FC90018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8EF0E24-C8BF-8E85-4604-F8CDC27341D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BECCE2C-6E46-49B8-B74C-AF0FA1CBD100}" type="slidenum">
              <a:rPr lang="en-IN" smtClean="0"/>
              <a:t>‹#›</a:t>
            </a:fld>
            <a:endParaRPr lang="en-IN"/>
          </a:p>
        </p:txBody>
      </p:sp>
    </p:spTree>
    <p:extLst>
      <p:ext uri="{BB962C8B-B14F-4D97-AF65-F5344CB8AC3E}">
        <p14:creationId xmlns:p14="http://schemas.microsoft.com/office/powerpoint/2010/main" val="10919113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32D6BE1-2562-4342-20F5-D4D7E1A2863D}"/>
              </a:ext>
            </a:extLst>
          </p:cNvPr>
          <p:cNvSpPr>
            <a:spLocks noGrp="1"/>
          </p:cNvSpPr>
          <p:nvPr>
            <p:ph type="subTitle" idx="1"/>
          </p:nvPr>
        </p:nvSpPr>
        <p:spPr>
          <a:xfrm>
            <a:off x="1188098" y="270588"/>
            <a:ext cx="9144000" cy="1655762"/>
          </a:xfrm>
        </p:spPr>
        <p:txBody>
          <a:bodyPr>
            <a:normAutofit fontScale="25000" lnSpcReduction="20000"/>
          </a:bodyPr>
          <a:lstStyle/>
          <a:p>
            <a:pPr marL="1905">
              <a:lnSpc>
                <a:spcPct val="100000"/>
              </a:lnSpc>
            </a:pPr>
            <a:r>
              <a:rPr lang="en-US" sz="9600" spc="-5" dirty="0">
                <a:solidFill>
                  <a:srgbClr val="6F2F9F"/>
                </a:solidFill>
                <a:latin typeface="Times New Roman"/>
                <a:cs typeface="Times New Roman"/>
              </a:rPr>
              <a:t>“</a:t>
            </a:r>
            <a:r>
              <a:rPr lang="en-IN" sz="9600" dirty="0">
                <a:solidFill>
                  <a:srgbClr val="7030A0"/>
                </a:solidFill>
              </a:rPr>
              <a:t>AI-RESUME INTELLIGENCE HUB </a:t>
            </a:r>
            <a:r>
              <a:rPr lang="en-US" sz="9600" dirty="0">
                <a:solidFill>
                  <a:srgbClr val="6F2F9F"/>
                </a:solidFill>
                <a:latin typeface="Times New Roman"/>
                <a:cs typeface="Times New Roman"/>
              </a:rPr>
              <a:t>”</a:t>
            </a:r>
            <a:endParaRPr lang="en-US" sz="9600" dirty="0">
              <a:latin typeface="Times New Roman"/>
              <a:cs typeface="Times New Roman"/>
            </a:endParaRPr>
          </a:p>
          <a:p>
            <a:pPr marL="12065" algn="ctr">
              <a:lnSpc>
                <a:spcPct val="100000"/>
              </a:lnSpc>
              <a:spcBef>
                <a:spcPts val="35"/>
              </a:spcBef>
            </a:pPr>
            <a:r>
              <a:rPr lang="en-US" sz="5600" spc="-15" dirty="0">
                <a:latin typeface="Times New Roman"/>
                <a:cs typeface="Times New Roman"/>
              </a:rPr>
              <a:t>A</a:t>
            </a:r>
            <a:endParaRPr lang="en-US" sz="5600" dirty="0">
              <a:latin typeface="Times New Roman"/>
              <a:cs typeface="Times New Roman"/>
            </a:endParaRPr>
          </a:p>
          <a:p>
            <a:pPr marL="241300" marR="186055" indent="-46355" algn="ctr">
              <a:lnSpc>
                <a:spcPct val="100000"/>
              </a:lnSpc>
            </a:pPr>
            <a:r>
              <a:rPr lang="en-US" sz="5600" spc="-15" dirty="0">
                <a:latin typeface="Times New Roman"/>
                <a:cs typeface="Times New Roman"/>
              </a:rPr>
              <a:t>P</a:t>
            </a:r>
            <a:r>
              <a:rPr lang="en-US" sz="5600" spc="-20" dirty="0">
                <a:latin typeface="Times New Roman"/>
                <a:cs typeface="Times New Roman"/>
              </a:rPr>
              <a:t>r</a:t>
            </a:r>
            <a:r>
              <a:rPr lang="en-US" sz="5600" spc="-10" dirty="0">
                <a:latin typeface="Times New Roman"/>
                <a:cs typeface="Times New Roman"/>
              </a:rPr>
              <a:t>oject Work</a:t>
            </a:r>
            <a:r>
              <a:rPr lang="en-US" sz="5600" spc="25" dirty="0">
                <a:latin typeface="Times New Roman"/>
                <a:cs typeface="Times New Roman"/>
              </a:rPr>
              <a:t> </a:t>
            </a:r>
            <a:r>
              <a:rPr lang="en-US" sz="5600" spc="-15" dirty="0">
                <a:latin typeface="Times New Roman"/>
                <a:cs typeface="Times New Roman"/>
              </a:rPr>
              <a:t>P</a:t>
            </a:r>
            <a:r>
              <a:rPr lang="en-US" sz="5600" spc="-10" dirty="0">
                <a:latin typeface="Times New Roman"/>
                <a:cs typeface="Times New Roman"/>
              </a:rPr>
              <a:t>o</a:t>
            </a:r>
            <a:r>
              <a:rPr lang="en-US" sz="5600" spc="-15" dirty="0">
                <a:latin typeface="Times New Roman"/>
                <a:cs typeface="Times New Roman"/>
              </a:rPr>
              <a:t>we</a:t>
            </a:r>
            <a:r>
              <a:rPr lang="en-US" sz="5600" spc="-10" dirty="0">
                <a:latin typeface="Times New Roman"/>
                <a:cs typeface="Times New Roman"/>
              </a:rPr>
              <a:t>r</a:t>
            </a:r>
            <a:r>
              <a:rPr lang="en-US" sz="5600" dirty="0">
                <a:latin typeface="Times New Roman"/>
                <a:cs typeface="Times New Roman"/>
              </a:rPr>
              <a:t> </a:t>
            </a:r>
            <a:r>
              <a:rPr lang="en-US" sz="5600" spc="-10" dirty="0">
                <a:latin typeface="Times New Roman"/>
                <a:cs typeface="Times New Roman"/>
              </a:rPr>
              <a:t>Point</a:t>
            </a:r>
            <a:r>
              <a:rPr lang="en-US" sz="5600" spc="-5" dirty="0">
                <a:latin typeface="Times New Roman"/>
                <a:cs typeface="Times New Roman"/>
              </a:rPr>
              <a:t> </a:t>
            </a:r>
            <a:r>
              <a:rPr lang="en-US" sz="5600" spc="-15" dirty="0">
                <a:latin typeface="Times New Roman"/>
                <a:cs typeface="Times New Roman"/>
              </a:rPr>
              <a:t>Pr</a:t>
            </a:r>
            <a:r>
              <a:rPr lang="en-US" sz="5600" spc="-10" dirty="0">
                <a:latin typeface="Times New Roman"/>
                <a:cs typeface="Times New Roman"/>
              </a:rPr>
              <a:t>ese</a:t>
            </a:r>
            <a:r>
              <a:rPr lang="en-US" sz="5600" spc="-5" dirty="0">
                <a:latin typeface="Times New Roman"/>
                <a:cs typeface="Times New Roman"/>
              </a:rPr>
              <a:t>n</a:t>
            </a:r>
            <a:r>
              <a:rPr lang="en-US" sz="5600" spc="-10" dirty="0">
                <a:latin typeface="Times New Roman"/>
                <a:cs typeface="Times New Roman"/>
              </a:rPr>
              <a:t>tation</a:t>
            </a:r>
            <a:r>
              <a:rPr lang="en-US" sz="5600" spc="35" dirty="0">
                <a:latin typeface="Times New Roman"/>
                <a:cs typeface="Times New Roman"/>
              </a:rPr>
              <a:t> </a:t>
            </a:r>
            <a:endParaRPr lang="en-US" sz="5600" spc="-10" dirty="0">
              <a:latin typeface="Times New Roman"/>
              <a:cs typeface="Times New Roman"/>
            </a:endParaRPr>
          </a:p>
          <a:p>
            <a:pPr marL="241300" marR="186055" indent="-46355" algn="ctr">
              <a:lnSpc>
                <a:spcPct val="100000"/>
              </a:lnSpc>
            </a:pPr>
            <a:r>
              <a:rPr lang="en-US" sz="5600" spc="-15" dirty="0">
                <a:latin typeface="Times New Roman"/>
                <a:cs typeface="Times New Roman"/>
              </a:rPr>
              <a:t>S</a:t>
            </a:r>
            <a:r>
              <a:rPr lang="en-US" sz="5600" spc="-10" dirty="0">
                <a:latin typeface="Times New Roman"/>
                <a:cs typeface="Times New Roman"/>
              </a:rPr>
              <a:t>ub</a:t>
            </a:r>
            <a:r>
              <a:rPr lang="en-US" sz="5600" spc="-45" dirty="0">
                <a:latin typeface="Times New Roman"/>
                <a:cs typeface="Times New Roman"/>
              </a:rPr>
              <a:t>m</a:t>
            </a:r>
            <a:r>
              <a:rPr lang="en-US" sz="5600" spc="-10" dirty="0">
                <a:latin typeface="Times New Roman"/>
                <a:cs typeface="Times New Roman"/>
              </a:rPr>
              <a:t>itted</a:t>
            </a:r>
            <a:r>
              <a:rPr lang="en-US" sz="5600" spc="55" dirty="0">
                <a:latin typeface="Times New Roman"/>
                <a:cs typeface="Times New Roman"/>
              </a:rPr>
              <a:t> </a:t>
            </a:r>
            <a:r>
              <a:rPr lang="en-US" sz="5600" spc="-10" dirty="0">
                <a:latin typeface="Times New Roman"/>
                <a:cs typeface="Times New Roman"/>
              </a:rPr>
              <a:t>in</a:t>
            </a:r>
            <a:r>
              <a:rPr lang="en-US" sz="5600" dirty="0">
                <a:latin typeface="Times New Roman"/>
                <a:cs typeface="Times New Roman"/>
              </a:rPr>
              <a:t> </a:t>
            </a:r>
            <a:r>
              <a:rPr lang="en-US" sz="5600" spc="-10" dirty="0">
                <a:latin typeface="Times New Roman"/>
                <a:cs typeface="Times New Roman"/>
              </a:rPr>
              <a:t>partial</a:t>
            </a:r>
            <a:r>
              <a:rPr lang="en-US" sz="5600" spc="30" dirty="0">
                <a:latin typeface="Times New Roman"/>
                <a:cs typeface="Times New Roman"/>
              </a:rPr>
              <a:t> </a:t>
            </a:r>
            <a:r>
              <a:rPr lang="en-US" sz="5600" spc="-5" dirty="0">
                <a:latin typeface="Times New Roman"/>
                <a:cs typeface="Times New Roman"/>
              </a:rPr>
              <a:t>f</a:t>
            </a:r>
            <a:r>
              <a:rPr lang="en-US" sz="5600" spc="-10" dirty="0">
                <a:latin typeface="Times New Roman"/>
                <a:cs typeface="Times New Roman"/>
              </a:rPr>
              <a:t>ul</a:t>
            </a:r>
            <a:r>
              <a:rPr lang="en-US" sz="5600" spc="-5" dirty="0">
                <a:latin typeface="Times New Roman"/>
                <a:cs typeface="Times New Roman"/>
              </a:rPr>
              <a:t>fil</a:t>
            </a:r>
            <a:r>
              <a:rPr lang="en-US" sz="5600" spc="-45" dirty="0">
                <a:latin typeface="Times New Roman"/>
                <a:cs typeface="Times New Roman"/>
              </a:rPr>
              <a:t>m</a:t>
            </a:r>
            <a:r>
              <a:rPr lang="en-US" sz="5600" spc="-10" dirty="0">
                <a:latin typeface="Times New Roman"/>
                <a:cs typeface="Times New Roman"/>
              </a:rPr>
              <a:t>ent</a:t>
            </a:r>
            <a:r>
              <a:rPr lang="en-US" sz="5600" spc="55" dirty="0">
                <a:latin typeface="Times New Roman"/>
                <a:cs typeface="Times New Roman"/>
              </a:rPr>
              <a:t> </a:t>
            </a:r>
            <a:r>
              <a:rPr lang="en-US" sz="5600" spc="-10" dirty="0">
                <a:latin typeface="Times New Roman"/>
                <a:cs typeface="Times New Roman"/>
              </a:rPr>
              <a:t>of</a:t>
            </a:r>
            <a:r>
              <a:rPr lang="en-US" sz="5600" spc="5" dirty="0">
                <a:latin typeface="Times New Roman"/>
                <a:cs typeface="Times New Roman"/>
              </a:rPr>
              <a:t> </a:t>
            </a:r>
            <a:r>
              <a:rPr lang="en-US" sz="5600" spc="-10" dirty="0">
                <a:latin typeface="Times New Roman"/>
                <a:cs typeface="Times New Roman"/>
              </a:rPr>
              <a:t>the</a:t>
            </a:r>
            <a:r>
              <a:rPr lang="en-US" sz="5600" spc="5" dirty="0">
                <a:latin typeface="Times New Roman"/>
                <a:cs typeface="Times New Roman"/>
              </a:rPr>
              <a:t> </a:t>
            </a:r>
            <a:r>
              <a:rPr lang="en-US" sz="5600" spc="-10" dirty="0">
                <a:latin typeface="Times New Roman"/>
                <a:cs typeface="Times New Roman"/>
              </a:rPr>
              <a:t>req</a:t>
            </a:r>
            <a:r>
              <a:rPr lang="en-US" sz="5600" spc="-5" dirty="0">
                <a:latin typeface="Times New Roman"/>
                <a:cs typeface="Times New Roman"/>
              </a:rPr>
              <a:t>u</a:t>
            </a:r>
            <a:r>
              <a:rPr lang="en-US" sz="5600" spc="-10" dirty="0">
                <a:latin typeface="Times New Roman"/>
                <a:cs typeface="Times New Roman"/>
              </a:rPr>
              <a:t>ire</a:t>
            </a:r>
            <a:r>
              <a:rPr lang="en-US" sz="5600" spc="-50" dirty="0">
                <a:latin typeface="Times New Roman"/>
                <a:cs typeface="Times New Roman"/>
              </a:rPr>
              <a:t>m</a:t>
            </a:r>
            <a:r>
              <a:rPr lang="en-US" sz="5600" spc="-10" dirty="0">
                <a:latin typeface="Times New Roman"/>
                <a:cs typeface="Times New Roman"/>
              </a:rPr>
              <a:t>e</a:t>
            </a:r>
            <a:r>
              <a:rPr lang="en-US" sz="5600" spc="0" dirty="0">
                <a:latin typeface="Times New Roman"/>
                <a:cs typeface="Times New Roman"/>
              </a:rPr>
              <a:t>n</a:t>
            </a:r>
            <a:r>
              <a:rPr lang="en-US" sz="5600" spc="-10" dirty="0">
                <a:latin typeface="Times New Roman"/>
                <a:cs typeface="Times New Roman"/>
              </a:rPr>
              <a:t>ts</a:t>
            </a:r>
            <a:r>
              <a:rPr lang="en-US" sz="5600" spc="55" dirty="0">
                <a:latin typeface="Times New Roman"/>
                <a:cs typeface="Times New Roman"/>
              </a:rPr>
              <a:t> </a:t>
            </a:r>
            <a:r>
              <a:rPr lang="en-US" sz="5600" spc="-5" dirty="0">
                <a:latin typeface="Times New Roman"/>
                <a:cs typeface="Times New Roman"/>
              </a:rPr>
              <a:t>f</a:t>
            </a:r>
            <a:r>
              <a:rPr lang="en-US" sz="5600" spc="-10" dirty="0">
                <a:latin typeface="Times New Roman"/>
                <a:cs typeface="Times New Roman"/>
              </a:rPr>
              <a:t>or</a:t>
            </a:r>
            <a:r>
              <a:rPr lang="en-US" sz="5600" dirty="0">
                <a:latin typeface="Times New Roman"/>
                <a:cs typeface="Times New Roman"/>
              </a:rPr>
              <a:t> </a:t>
            </a:r>
            <a:r>
              <a:rPr lang="en-US" sz="5600" spc="-10" dirty="0">
                <a:latin typeface="Times New Roman"/>
                <a:cs typeface="Times New Roman"/>
              </a:rPr>
              <a:t>the</a:t>
            </a:r>
            <a:r>
              <a:rPr lang="en-US" sz="5600" spc="-5" dirty="0">
                <a:latin typeface="Times New Roman"/>
                <a:cs typeface="Times New Roman"/>
              </a:rPr>
              <a:t> </a:t>
            </a:r>
            <a:r>
              <a:rPr lang="en-US" sz="5600" spc="-10" dirty="0">
                <a:latin typeface="Times New Roman"/>
                <a:cs typeface="Times New Roman"/>
              </a:rPr>
              <a:t>de</a:t>
            </a:r>
            <a:r>
              <a:rPr lang="en-US" sz="5600" spc="-5" dirty="0">
                <a:latin typeface="Times New Roman"/>
                <a:cs typeface="Times New Roman"/>
              </a:rPr>
              <a:t>g</a:t>
            </a:r>
            <a:r>
              <a:rPr lang="en-US" sz="5600" spc="-10" dirty="0">
                <a:latin typeface="Times New Roman"/>
                <a:cs typeface="Times New Roman"/>
              </a:rPr>
              <a:t>ree</a:t>
            </a:r>
            <a:r>
              <a:rPr lang="en-US" sz="5600" spc="-5" dirty="0">
                <a:latin typeface="Times New Roman"/>
                <a:cs typeface="Times New Roman"/>
              </a:rPr>
              <a:t> of</a:t>
            </a:r>
          </a:p>
          <a:p>
            <a:pPr marL="241300" marR="186055" indent="-46355" algn="ctr">
              <a:lnSpc>
                <a:spcPct val="100000"/>
              </a:lnSpc>
            </a:pPr>
            <a:endParaRPr lang="en-US" sz="6400" dirty="0">
              <a:latin typeface="Times New Roman"/>
              <a:cs typeface="Times New Roman"/>
            </a:endParaRPr>
          </a:p>
          <a:p>
            <a:pPr marL="6350" algn="ctr">
              <a:lnSpc>
                <a:spcPct val="100000"/>
              </a:lnSpc>
              <a:spcBef>
                <a:spcPts val="5"/>
              </a:spcBef>
            </a:pPr>
            <a:r>
              <a:rPr lang="en-US" sz="6400" b="1" dirty="0">
                <a:solidFill>
                  <a:srgbClr val="FF0000"/>
                </a:solidFill>
                <a:latin typeface="Times New Roman"/>
                <a:cs typeface="Times New Roman"/>
              </a:rPr>
              <a:t>B</a:t>
            </a:r>
            <a:r>
              <a:rPr lang="en-US" sz="6400" b="1" spc="-10" dirty="0">
                <a:solidFill>
                  <a:srgbClr val="FF0000"/>
                </a:solidFill>
                <a:latin typeface="Times New Roman"/>
                <a:cs typeface="Times New Roman"/>
              </a:rPr>
              <a:t>AC</a:t>
            </a:r>
            <a:r>
              <a:rPr lang="en-US" sz="6400" b="1" dirty="0">
                <a:solidFill>
                  <a:srgbClr val="FF0000"/>
                </a:solidFill>
                <a:latin typeface="Times New Roman"/>
                <a:cs typeface="Times New Roman"/>
              </a:rPr>
              <a:t>HELOR OF</a:t>
            </a:r>
            <a:r>
              <a:rPr lang="en-US" sz="6400" b="1" spc="-95" dirty="0">
                <a:solidFill>
                  <a:srgbClr val="FF0000"/>
                </a:solidFill>
                <a:latin typeface="Times New Roman"/>
                <a:cs typeface="Times New Roman"/>
              </a:rPr>
              <a:t> </a:t>
            </a:r>
            <a:r>
              <a:rPr lang="en-US" sz="6400" b="1" dirty="0">
                <a:solidFill>
                  <a:srgbClr val="FF0000"/>
                </a:solidFill>
                <a:latin typeface="Times New Roman"/>
                <a:cs typeface="Times New Roman"/>
              </a:rPr>
              <a:t>TE</a:t>
            </a:r>
            <a:r>
              <a:rPr lang="en-US" sz="6400" b="1" spc="-10" dirty="0">
                <a:solidFill>
                  <a:srgbClr val="FF0000"/>
                </a:solidFill>
                <a:latin typeface="Times New Roman"/>
                <a:cs typeface="Times New Roman"/>
              </a:rPr>
              <a:t>C</a:t>
            </a:r>
            <a:r>
              <a:rPr lang="en-US" sz="6400" b="1" dirty="0">
                <a:solidFill>
                  <a:srgbClr val="FF0000"/>
                </a:solidFill>
                <a:latin typeface="Times New Roman"/>
                <a:cs typeface="Times New Roman"/>
              </a:rPr>
              <a:t>H</a:t>
            </a:r>
            <a:r>
              <a:rPr lang="en-US" sz="6400" b="1" spc="-10" dirty="0">
                <a:solidFill>
                  <a:srgbClr val="FF0000"/>
                </a:solidFill>
                <a:latin typeface="Times New Roman"/>
                <a:cs typeface="Times New Roman"/>
              </a:rPr>
              <a:t>N</a:t>
            </a:r>
            <a:r>
              <a:rPr lang="en-US" sz="6400" b="1" dirty="0">
                <a:solidFill>
                  <a:srgbClr val="FF0000"/>
                </a:solidFill>
                <a:latin typeface="Times New Roman"/>
                <a:cs typeface="Times New Roman"/>
              </a:rPr>
              <a:t>OLOGY</a:t>
            </a:r>
            <a:endParaRPr lang="en-US" sz="6400" dirty="0">
              <a:latin typeface="Times New Roman"/>
              <a:cs typeface="Times New Roman"/>
            </a:endParaRPr>
          </a:p>
          <a:p>
            <a:pPr algn="ctr">
              <a:lnSpc>
                <a:spcPct val="100000"/>
              </a:lnSpc>
            </a:pPr>
            <a:r>
              <a:rPr lang="en-US" sz="5600" spc="5" dirty="0">
                <a:latin typeface="Times New Roman"/>
                <a:cs typeface="Times New Roman"/>
              </a:rPr>
              <a:t>In</a:t>
            </a:r>
            <a:endParaRPr lang="en-US" sz="5600" dirty="0">
              <a:latin typeface="Times New Roman"/>
              <a:cs typeface="Times New Roman"/>
            </a:endParaRPr>
          </a:p>
          <a:p>
            <a:pPr algn="ctr">
              <a:lnSpc>
                <a:spcPct val="100000"/>
              </a:lnSpc>
            </a:pPr>
            <a:r>
              <a:rPr lang="en-US" sz="6400" b="1" spc="-10" dirty="0">
                <a:solidFill>
                  <a:srgbClr val="FF0000"/>
                </a:solidFill>
                <a:latin typeface="Times New Roman"/>
                <a:cs typeface="Times New Roman"/>
              </a:rPr>
              <a:t>COMPUTER SCIENCE &amp; ENGINEERING</a:t>
            </a:r>
            <a:endParaRPr lang="en-US" sz="6400" dirty="0">
              <a:latin typeface="Times New Roman"/>
              <a:cs typeface="Times New Roman"/>
            </a:endParaRPr>
          </a:p>
          <a:p>
            <a:pPr marL="1905" algn="ctr">
              <a:lnSpc>
                <a:spcPct val="100000"/>
              </a:lnSpc>
            </a:pPr>
            <a:r>
              <a:rPr lang="en-US" sz="5600" dirty="0">
                <a:latin typeface="Times New Roman"/>
                <a:cs typeface="Times New Roman"/>
              </a:rPr>
              <a:t>By</a:t>
            </a:r>
          </a:p>
          <a:p>
            <a:pPr lvl="1">
              <a:lnSpc>
                <a:spcPct val="100000"/>
              </a:lnSpc>
            </a:pPr>
            <a:r>
              <a:rPr lang="en-US" sz="5200" dirty="0">
                <a:solidFill>
                  <a:srgbClr val="00AF50"/>
                </a:solidFill>
                <a:latin typeface="Times New Roman"/>
                <a:cs typeface="Times New Roman"/>
              </a:rPr>
              <a:t>(</a:t>
            </a:r>
            <a:r>
              <a:rPr lang="en-US" sz="5200" spc="-10" dirty="0">
                <a:solidFill>
                  <a:srgbClr val="00AF50"/>
                </a:solidFill>
                <a:latin typeface="Times New Roman"/>
                <a:cs typeface="Times New Roman"/>
              </a:rPr>
              <a:t>N</a:t>
            </a:r>
            <a:r>
              <a:rPr lang="en-US" sz="5200" dirty="0">
                <a:solidFill>
                  <a:srgbClr val="00AF50"/>
                </a:solidFill>
                <a:latin typeface="Times New Roman"/>
                <a:cs typeface="Times New Roman"/>
              </a:rPr>
              <a:t>a</a:t>
            </a:r>
            <a:r>
              <a:rPr lang="en-US" sz="5200" spc="-25" dirty="0">
                <a:solidFill>
                  <a:srgbClr val="00AF50"/>
                </a:solidFill>
                <a:latin typeface="Times New Roman"/>
                <a:cs typeface="Times New Roman"/>
              </a:rPr>
              <a:t>m</a:t>
            </a:r>
            <a:r>
              <a:rPr lang="en-US" sz="5200" dirty="0">
                <a:solidFill>
                  <a:srgbClr val="00AF50"/>
                </a:solidFill>
                <a:latin typeface="Times New Roman"/>
                <a:cs typeface="Times New Roman"/>
              </a:rPr>
              <a:t>e:</a:t>
            </a:r>
            <a:r>
              <a:rPr lang="en-US" sz="5200" spc="10" dirty="0">
                <a:solidFill>
                  <a:srgbClr val="00AF50"/>
                </a:solidFill>
                <a:latin typeface="Times New Roman"/>
                <a:cs typeface="Times New Roman"/>
              </a:rPr>
              <a:t> Shourya Saxena </a:t>
            </a:r>
            <a:r>
              <a:rPr lang="en-US" sz="5200" dirty="0">
                <a:solidFill>
                  <a:srgbClr val="00AF50"/>
                </a:solidFill>
                <a:latin typeface="Times New Roman"/>
                <a:cs typeface="Times New Roman"/>
              </a:rPr>
              <a:t>,</a:t>
            </a:r>
            <a:r>
              <a:rPr lang="en-US" sz="5200" spc="-5" dirty="0">
                <a:solidFill>
                  <a:srgbClr val="00AF50"/>
                </a:solidFill>
                <a:latin typeface="Times New Roman"/>
                <a:cs typeface="Times New Roman"/>
              </a:rPr>
              <a:t> Divyansh Singh </a:t>
            </a:r>
            <a:r>
              <a:rPr lang="en-US" sz="5200" dirty="0">
                <a:solidFill>
                  <a:srgbClr val="00AF50"/>
                </a:solidFill>
                <a:latin typeface="Times New Roman"/>
                <a:cs typeface="Times New Roman"/>
              </a:rPr>
              <a:t>,</a:t>
            </a:r>
            <a:r>
              <a:rPr lang="en-US" sz="5200" spc="-20" dirty="0">
                <a:solidFill>
                  <a:srgbClr val="00AF50"/>
                </a:solidFill>
                <a:latin typeface="Times New Roman"/>
                <a:cs typeface="Times New Roman"/>
              </a:rPr>
              <a:t> Saalim Yar Khan</a:t>
            </a:r>
            <a:r>
              <a:rPr lang="en-US" sz="5200" dirty="0">
                <a:solidFill>
                  <a:srgbClr val="00AF50"/>
                </a:solidFill>
                <a:latin typeface="Times New Roman"/>
                <a:cs typeface="Times New Roman"/>
              </a:rPr>
              <a:t>,</a:t>
            </a:r>
            <a:r>
              <a:rPr lang="en-US" sz="5200" spc="-5" dirty="0">
                <a:solidFill>
                  <a:srgbClr val="00AF50"/>
                </a:solidFill>
                <a:latin typeface="Times New Roman"/>
                <a:cs typeface="Times New Roman"/>
              </a:rPr>
              <a:t> Snehi Rastogi </a:t>
            </a:r>
            <a:r>
              <a:rPr lang="en-US" sz="5200" spc="5" dirty="0">
                <a:solidFill>
                  <a:srgbClr val="00AF50"/>
                </a:solidFill>
                <a:latin typeface="Times New Roman"/>
                <a:cs typeface="Times New Roman"/>
              </a:rPr>
              <a:t>, Shivani  &amp; Abhinav </a:t>
            </a:r>
            <a:r>
              <a:rPr lang="en-US" sz="5200" spc="5" dirty="0" err="1">
                <a:solidFill>
                  <a:srgbClr val="00AF50"/>
                </a:solidFill>
                <a:latin typeface="Times New Roman"/>
                <a:cs typeface="Times New Roman"/>
              </a:rPr>
              <a:t>Katheria</a:t>
            </a:r>
            <a:r>
              <a:rPr lang="en-US" sz="5200" dirty="0">
                <a:solidFill>
                  <a:srgbClr val="00AF50"/>
                </a:solidFill>
                <a:latin typeface="Times New Roman"/>
                <a:cs typeface="Times New Roman"/>
              </a:rPr>
              <a:t>)</a:t>
            </a:r>
          </a:p>
          <a:p>
            <a:pPr lvl="1">
              <a:lnSpc>
                <a:spcPct val="100000"/>
              </a:lnSpc>
            </a:pPr>
            <a:r>
              <a:rPr lang="en-US" sz="5200" dirty="0">
                <a:solidFill>
                  <a:srgbClr val="00AF50"/>
                </a:solidFill>
                <a:latin typeface="Times New Roman"/>
                <a:cs typeface="Times New Roman"/>
              </a:rPr>
              <a:t>(Student’s ID: BCS2022202,LBCS2023010, LBCS2023040, BCS2022130, LBCS2023008, &amp; LBCS2023041 )</a:t>
            </a:r>
            <a:endParaRPr lang="en-US" sz="5200" dirty="0">
              <a:latin typeface="Times New Roman"/>
              <a:cs typeface="Times New Roman"/>
            </a:endParaRPr>
          </a:p>
          <a:p>
            <a:pPr marL="1972945" marR="1965325" algn="ctr">
              <a:lnSpc>
                <a:spcPct val="100000"/>
              </a:lnSpc>
            </a:pPr>
            <a:endParaRPr lang="en-US" sz="5600" spc="-10" dirty="0">
              <a:latin typeface="Times New Roman"/>
              <a:cs typeface="Times New Roman"/>
            </a:endParaRPr>
          </a:p>
          <a:p>
            <a:pPr marL="1972945" marR="1965325" algn="ctr">
              <a:lnSpc>
                <a:spcPct val="100000"/>
              </a:lnSpc>
            </a:pPr>
            <a:r>
              <a:rPr lang="en-US" sz="5600" spc="-10" dirty="0">
                <a:latin typeface="Times New Roman"/>
                <a:cs typeface="Times New Roman"/>
              </a:rPr>
              <a:t>U</a:t>
            </a:r>
            <a:r>
              <a:rPr lang="en-US" sz="5600" dirty="0">
                <a:latin typeface="Times New Roman"/>
                <a:cs typeface="Times New Roman"/>
              </a:rPr>
              <a:t>nder</a:t>
            </a:r>
            <a:r>
              <a:rPr lang="en-US" sz="5600" spc="-15" dirty="0">
                <a:latin typeface="Times New Roman"/>
                <a:cs typeface="Times New Roman"/>
              </a:rPr>
              <a:t> </a:t>
            </a:r>
            <a:r>
              <a:rPr lang="en-US" sz="5600" dirty="0">
                <a:latin typeface="Times New Roman"/>
                <a:cs typeface="Times New Roman"/>
              </a:rPr>
              <a:t>the</a:t>
            </a:r>
            <a:r>
              <a:rPr lang="en-US" sz="5600" spc="-15" dirty="0">
                <a:latin typeface="Times New Roman"/>
                <a:cs typeface="Times New Roman"/>
              </a:rPr>
              <a:t> </a:t>
            </a:r>
            <a:r>
              <a:rPr lang="en-US" sz="5600" spc="-5" dirty="0">
                <a:latin typeface="Times New Roman"/>
                <a:cs typeface="Times New Roman"/>
              </a:rPr>
              <a:t>S</a:t>
            </a:r>
            <a:r>
              <a:rPr lang="en-US" sz="5600" dirty="0">
                <a:latin typeface="Times New Roman"/>
                <a:cs typeface="Times New Roman"/>
              </a:rPr>
              <a:t>uper</a:t>
            </a:r>
            <a:r>
              <a:rPr lang="en-US" sz="5600" spc="5" dirty="0">
                <a:latin typeface="Times New Roman"/>
                <a:cs typeface="Times New Roman"/>
              </a:rPr>
              <a:t>v</a:t>
            </a:r>
            <a:r>
              <a:rPr lang="en-US" sz="5600" spc="-10" dirty="0">
                <a:latin typeface="Times New Roman"/>
                <a:cs typeface="Times New Roman"/>
              </a:rPr>
              <a:t>i</a:t>
            </a:r>
            <a:r>
              <a:rPr lang="en-US" sz="5600" dirty="0">
                <a:latin typeface="Times New Roman"/>
                <a:cs typeface="Times New Roman"/>
              </a:rPr>
              <a:t>s</a:t>
            </a:r>
            <a:r>
              <a:rPr lang="en-US" sz="5600" spc="-10" dirty="0">
                <a:latin typeface="Times New Roman"/>
                <a:cs typeface="Times New Roman"/>
              </a:rPr>
              <a:t>i</a:t>
            </a:r>
            <a:r>
              <a:rPr lang="en-US" sz="5600" dirty="0">
                <a:latin typeface="Times New Roman"/>
                <a:cs typeface="Times New Roman"/>
              </a:rPr>
              <a:t>on</a:t>
            </a:r>
            <a:r>
              <a:rPr lang="en-US" sz="5600" spc="-45" dirty="0">
                <a:latin typeface="Times New Roman"/>
                <a:cs typeface="Times New Roman"/>
              </a:rPr>
              <a:t> </a:t>
            </a:r>
            <a:r>
              <a:rPr lang="en-US" sz="5600" dirty="0">
                <a:latin typeface="Times New Roman"/>
                <a:cs typeface="Times New Roman"/>
              </a:rPr>
              <a:t>of </a:t>
            </a:r>
          </a:p>
          <a:p>
            <a:pPr marL="1972945" marR="1965325" algn="ctr">
              <a:lnSpc>
                <a:spcPct val="100000"/>
              </a:lnSpc>
            </a:pPr>
            <a:r>
              <a:rPr lang="en-US" sz="5600" spc="-10" dirty="0">
                <a:solidFill>
                  <a:srgbClr val="6F2F9F"/>
                </a:solidFill>
                <a:latin typeface="Times New Roman"/>
                <a:cs typeface="Times New Roman"/>
              </a:rPr>
              <a:t>Choudary Ravi Singh</a:t>
            </a:r>
            <a:endParaRPr lang="en-US" sz="5600" dirty="0">
              <a:solidFill>
                <a:srgbClr val="6F2F9F"/>
              </a:solidFill>
              <a:latin typeface="Times New Roman"/>
              <a:cs typeface="Times New Roman"/>
            </a:endParaRPr>
          </a:p>
          <a:p>
            <a:pPr marL="1972945" marR="1965325" algn="ctr">
              <a:lnSpc>
                <a:spcPct val="100000"/>
              </a:lnSpc>
            </a:pPr>
            <a:r>
              <a:rPr lang="en-US" sz="5600" dirty="0">
                <a:solidFill>
                  <a:srgbClr val="6F2F9F"/>
                </a:solidFill>
                <a:latin typeface="Times New Roman"/>
                <a:cs typeface="Times New Roman"/>
              </a:rPr>
              <a:t>(</a:t>
            </a:r>
            <a:r>
              <a:rPr lang="en-US" sz="5600" spc="-10" dirty="0">
                <a:solidFill>
                  <a:srgbClr val="6F2F9F"/>
                </a:solidFill>
                <a:latin typeface="Times New Roman"/>
                <a:cs typeface="Times New Roman"/>
              </a:rPr>
              <a:t>Assistant Professor/Associate Professor/Professor</a:t>
            </a:r>
            <a:r>
              <a:rPr lang="en-US" sz="5600" dirty="0">
                <a:solidFill>
                  <a:srgbClr val="6F2F9F"/>
                </a:solidFill>
                <a:latin typeface="Times New Roman"/>
                <a:cs typeface="Times New Roman"/>
              </a:rPr>
              <a:t>) </a:t>
            </a:r>
          </a:p>
          <a:p>
            <a:pPr marL="1972945" marR="1965325" algn="ctr">
              <a:lnSpc>
                <a:spcPct val="100000"/>
              </a:lnSpc>
            </a:pPr>
            <a:r>
              <a:rPr lang="en-US" sz="5600" spc="-10" dirty="0">
                <a:solidFill>
                  <a:srgbClr val="6F2F9F"/>
                </a:solidFill>
                <a:latin typeface="Times New Roman"/>
                <a:cs typeface="Times New Roman"/>
              </a:rPr>
              <a:t>Computer Science &amp; Engineering Department</a:t>
            </a:r>
          </a:p>
          <a:p>
            <a:pPr marL="1972945" marR="1965325" algn="ctr">
              <a:lnSpc>
                <a:spcPct val="100000"/>
              </a:lnSpc>
            </a:pPr>
            <a:r>
              <a:rPr lang="en-US" sz="6000" dirty="0">
                <a:latin typeface="Times New Roman"/>
                <a:ea typeface="Calibri"/>
                <a:cs typeface="Mangal"/>
              </a:rPr>
              <a:t>Invertis University, Bareilly</a:t>
            </a:r>
          </a:p>
          <a:p>
            <a:pPr marL="1972945" marR="1965325" algn="ctr">
              <a:lnSpc>
                <a:spcPct val="100000"/>
              </a:lnSpc>
            </a:pPr>
            <a:r>
              <a:rPr lang="en-US" sz="6000" spc="-10" dirty="0">
                <a:solidFill>
                  <a:srgbClr val="6F2F9F"/>
                </a:solidFill>
                <a:latin typeface="Times New Roman"/>
                <a:ea typeface="Calibri"/>
                <a:cs typeface="Mangal"/>
              </a:rPr>
              <a:t>To</a:t>
            </a:r>
          </a:p>
          <a:p>
            <a:pPr marL="1972945" marR="1965325" algn="ctr">
              <a:lnSpc>
                <a:spcPct val="100000"/>
              </a:lnSpc>
            </a:pPr>
            <a:endParaRPr lang="en-US" sz="6000" spc="-10" dirty="0">
              <a:solidFill>
                <a:srgbClr val="6F2F9F"/>
              </a:solidFill>
              <a:latin typeface="Times New Roman"/>
              <a:ea typeface="Calibri"/>
              <a:cs typeface="Mangal"/>
            </a:endParaRPr>
          </a:p>
          <a:p>
            <a:pPr marL="1972945" marR="1965325" algn="ctr">
              <a:lnSpc>
                <a:spcPct val="100000"/>
              </a:lnSpc>
            </a:pPr>
            <a:endParaRPr lang="en-US" sz="5600" spc="-10" dirty="0">
              <a:solidFill>
                <a:srgbClr val="6F2F9F"/>
              </a:solidFill>
              <a:latin typeface="Times New Roman"/>
              <a:cs typeface="Times New Roman"/>
            </a:endParaRPr>
          </a:p>
          <a:p>
            <a:pPr marL="1972945" marR="1965325" algn="ctr">
              <a:lnSpc>
                <a:spcPct val="100000"/>
              </a:lnSpc>
            </a:pPr>
            <a:endParaRPr lang="en-US" sz="5600" spc="-10" dirty="0">
              <a:solidFill>
                <a:srgbClr val="6F2F9F"/>
              </a:solidFill>
              <a:latin typeface="Times New Roman"/>
              <a:cs typeface="Times New Roman"/>
            </a:endParaRPr>
          </a:p>
          <a:p>
            <a:endParaRPr lang="en-IN" dirty="0"/>
          </a:p>
        </p:txBody>
      </p:sp>
      <p:pic>
        <p:nvPicPr>
          <p:cNvPr id="2" name="Picture 1" descr="Image result for invertis university">
            <a:extLst>
              <a:ext uri="{FF2B5EF4-FFF2-40B4-BE49-F238E27FC236}">
                <a16:creationId xmlns:a16="http://schemas.microsoft.com/office/drawing/2014/main" id="{314E8CF1-46BF-CBE4-D857-56957C66FAA1}"/>
              </a:ext>
            </a:extLst>
          </p:cNvPr>
          <p:cNvPicPr/>
          <p:nvPr/>
        </p:nvPicPr>
        <p:blipFill>
          <a:blip r:embed="rId2" cstate="print"/>
          <a:srcRect l="4626" t="13942" r="8185" b="29327"/>
          <a:stretch>
            <a:fillRect/>
          </a:stretch>
        </p:blipFill>
        <p:spPr bwMode="auto">
          <a:xfrm>
            <a:off x="10151414" y="154262"/>
            <a:ext cx="1704975" cy="821171"/>
          </a:xfrm>
          <a:prstGeom prst="rect">
            <a:avLst/>
          </a:prstGeom>
          <a:noFill/>
          <a:ln w="9525">
            <a:noFill/>
            <a:miter lim="800000"/>
            <a:headEnd/>
            <a:tailEnd/>
          </a:ln>
        </p:spPr>
      </p:pic>
      <p:sp>
        <p:nvSpPr>
          <p:cNvPr id="6" name="TextBox 5">
            <a:extLst>
              <a:ext uri="{FF2B5EF4-FFF2-40B4-BE49-F238E27FC236}">
                <a16:creationId xmlns:a16="http://schemas.microsoft.com/office/drawing/2014/main" id="{5C0E47E0-61D2-9464-9AFA-3501772CB775}"/>
              </a:ext>
            </a:extLst>
          </p:cNvPr>
          <p:cNvSpPr txBox="1"/>
          <p:nvPr/>
        </p:nvSpPr>
        <p:spPr>
          <a:xfrm>
            <a:off x="2083837" y="5512095"/>
            <a:ext cx="7352522" cy="636072"/>
          </a:xfrm>
          <a:prstGeom prst="rect">
            <a:avLst/>
          </a:prstGeom>
          <a:noFill/>
        </p:spPr>
        <p:txBody>
          <a:bodyPr wrap="square" rtlCol="0">
            <a:spAutoFit/>
          </a:bodyPr>
          <a:lstStyle/>
          <a:p>
            <a:pPr algn="ctr">
              <a:spcBef>
                <a:spcPts val="400"/>
              </a:spcBef>
            </a:pPr>
            <a:r>
              <a:rPr lang="en-US" sz="1600" b="1" dirty="0">
                <a:latin typeface="Times New Roman" panose="02020603050405020304" pitchFamily="18" charset="0"/>
                <a:cs typeface="Times New Roman" panose="02020603050405020304" pitchFamily="18" charset="0"/>
              </a:rPr>
              <a:t>Department of Computer Science &amp; Engineering</a:t>
            </a:r>
          </a:p>
          <a:p>
            <a:pPr algn="ctr">
              <a:spcBef>
                <a:spcPts val="400"/>
              </a:spcBef>
            </a:pPr>
            <a:r>
              <a:rPr lang="en-US" sz="1600" b="1" dirty="0">
                <a:latin typeface="Times New Roman" panose="02020603050405020304" pitchFamily="18" charset="0"/>
                <a:cs typeface="Times New Roman" panose="02020603050405020304" pitchFamily="18" charset="0"/>
              </a:rPr>
              <a:t>Invertis University</a:t>
            </a:r>
            <a:endParaRPr lang="en-IN" sz="16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1CA25957-9B74-2CB0-B12E-3737E088ACE5}"/>
              </a:ext>
            </a:extLst>
          </p:cNvPr>
          <p:cNvSpPr txBox="1"/>
          <p:nvPr/>
        </p:nvSpPr>
        <p:spPr>
          <a:xfrm>
            <a:off x="242595" y="6180518"/>
            <a:ext cx="11327364" cy="523220"/>
          </a:xfrm>
          <a:prstGeom prst="rect">
            <a:avLst/>
          </a:prstGeom>
          <a:noFill/>
        </p:spPr>
        <p:txBody>
          <a:bodyPr wrap="square">
            <a:spAutoFit/>
          </a:bodyPr>
          <a:lstStyle/>
          <a:p>
            <a:pPr algn="ctr"/>
            <a:r>
              <a:rPr lang="en-US" sz="1400" dirty="0">
                <a:latin typeface="Times New Roman" panose="02020603050405020304" pitchFamily="18" charset="0"/>
                <a:cs typeface="Times New Roman" panose="02020603050405020304" pitchFamily="18" charset="0"/>
              </a:rPr>
              <a:t>Lucknow National Highway, NH-24, Bareilly,  Uttar Pradesh - 243123</a:t>
            </a:r>
            <a:endParaRPr lang="en-IN" sz="1400" dirty="0">
              <a:latin typeface="Times New Roman" panose="02020603050405020304" pitchFamily="18" charset="0"/>
              <a:cs typeface="Times New Roman" panose="02020603050405020304" pitchFamily="18" charset="0"/>
            </a:endParaRPr>
          </a:p>
          <a:p>
            <a:pPr algn="ctr"/>
            <a:r>
              <a:rPr lang="en-US" sz="1400" dirty="0">
                <a:latin typeface="Times New Roman" panose="02020603050405020304" pitchFamily="18" charset="0"/>
                <a:cs typeface="Times New Roman" panose="02020603050405020304" pitchFamily="18" charset="0"/>
              </a:rPr>
              <a:t>April- 2026</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290916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55EA50A0-200E-1070-2A8E-FBEE7C29DAB9}"/>
              </a:ext>
            </a:extLst>
          </p:cNvPr>
          <p:cNvSpPr txBox="1"/>
          <p:nvPr/>
        </p:nvSpPr>
        <p:spPr>
          <a:xfrm>
            <a:off x="475861" y="266802"/>
            <a:ext cx="2392045" cy="545790"/>
          </a:xfrm>
          <a:prstGeom prst="rect">
            <a:avLst/>
          </a:prstGeom>
        </p:spPr>
        <p:txBody>
          <a:bodyPr vert="horz" wrap="square" lIns="0" tIns="0" rIns="0" bIns="0" rtlCol="0">
            <a:spAutoFit/>
          </a:bodyPr>
          <a:lstStyle/>
          <a:p>
            <a:pPr marL="12700">
              <a:lnSpc>
                <a:spcPts val="4780"/>
              </a:lnSpc>
            </a:pPr>
            <a:r>
              <a:rPr lang="en-IN" sz="2800" b="1" spc="-30" dirty="0">
                <a:latin typeface="Times New Roman"/>
                <a:cs typeface="Times New Roman"/>
              </a:rPr>
              <a:t>CON</a:t>
            </a:r>
            <a:r>
              <a:rPr lang="en-IN" sz="2800" b="1" spc="-45" dirty="0">
                <a:latin typeface="Times New Roman"/>
                <a:cs typeface="Times New Roman"/>
              </a:rPr>
              <a:t>T</a:t>
            </a:r>
            <a:r>
              <a:rPr lang="en-IN" sz="2800" b="1" spc="-30" dirty="0">
                <a:latin typeface="Times New Roman"/>
                <a:cs typeface="Times New Roman"/>
              </a:rPr>
              <a:t>ENT</a:t>
            </a:r>
            <a:endParaRPr sz="2800" b="1" dirty="0">
              <a:latin typeface="Times New Roman"/>
              <a:cs typeface="Times New Roman"/>
            </a:endParaRPr>
          </a:p>
        </p:txBody>
      </p:sp>
      <p:pic>
        <p:nvPicPr>
          <p:cNvPr id="3074" name="Picture 2" descr="Overview | Invertis University">
            <a:extLst>
              <a:ext uri="{FF2B5EF4-FFF2-40B4-BE49-F238E27FC236}">
                <a16:creationId xmlns:a16="http://schemas.microsoft.com/office/drawing/2014/main" id="{B79D68D0-B04A-DDBC-CCC2-0A99CDD2B5F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091723" y="73465"/>
            <a:ext cx="929892" cy="91076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574A12B-015F-5273-FCDD-A8ABA99CD8E4}"/>
              </a:ext>
            </a:extLst>
          </p:cNvPr>
          <p:cNvSpPr txBox="1"/>
          <p:nvPr/>
        </p:nvSpPr>
        <p:spPr>
          <a:xfrm>
            <a:off x="475861" y="1296955"/>
            <a:ext cx="10972800" cy="5416868"/>
          </a:xfrm>
          <a:prstGeom prst="rect">
            <a:avLst/>
          </a:prstGeom>
          <a:noFill/>
        </p:spPr>
        <p:txBody>
          <a:bodyPr wrap="square" rtlCol="0">
            <a:spAutoFit/>
          </a:bodyPr>
          <a:lstStyle/>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Abstract</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Objectives</a:t>
            </a:r>
            <a:endParaRPr lang="en-IN" sz="1600" dirty="0">
              <a:highlight>
                <a:srgbClr val="FFFF00"/>
              </a:highlight>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Motivation</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Literature Survey (with merits and demerits)</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Challenges</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Requirements (Hardware and Software Requirements)</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Flow Chart</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Block Diagram</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Tools &amp; Technology Used</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Project Methodology</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Implementation (Project Work) </a:t>
            </a:r>
            <a:endParaRPr lang="en-IN" sz="1600" dirty="0">
              <a:highlight>
                <a:srgbClr val="FFFF00"/>
              </a:highlight>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1600" spc="-125" dirty="0">
                <a:latin typeface="Times New Roman" panose="02020603050405020304" pitchFamily="18" charset="0"/>
                <a:cs typeface="Times New Roman" panose="02020603050405020304" pitchFamily="18" charset="0"/>
              </a:rPr>
              <a:t>T</a:t>
            </a:r>
            <a:r>
              <a:rPr lang="en-IN" sz="1600" spc="-20" dirty="0">
                <a:latin typeface="Times New Roman" panose="02020603050405020304" pitchFamily="18" charset="0"/>
                <a:cs typeface="Times New Roman" panose="02020603050405020304" pitchFamily="18" charset="0"/>
              </a:rPr>
              <a:t>e</a:t>
            </a:r>
            <a:r>
              <a:rPr lang="en-IN" sz="1600" spc="-15" dirty="0">
                <a:latin typeface="Times New Roman" panose="02020603050405020304" pitchFamily="18" charset="0"/>
                <a:cs typeface="Times New Roman" panose="02020603050405020304" pitchFamily="18" charset="0"/>
              </a:rPr>
              <a:t>s</a:t>
            </a:r>
            <a:r>
              <a:rPr lang="en-IN" sz="1600" dirty="0">
                <a:latin typeface="Times New Roman" panose="02020603050405020304" pitchFamily="18" charset="0"/>
                <a:cs typeface="Times New Roman" panose="02020603050405020304" pitchFamily="18" charset="0"/>
              </a:rPr>
              <a:t>t</a:t>
            </a:r>
            <a:r>
              <a:rPr lang="en-IN" sz="1600" spc="-5" dirty="0">
                <a:latin typeface="Times New Roman" panose="02020603050405020304" pitchFamily="18" charset="0"/>
                <a:cs typeface="Times New Roman" panose="02020603050405020304" pitchFamily="18" charset="0"/>
              </a:rPr>
              <a:t>in</a:t>
            </a:r>
            <a:r>
              <a:rPr lang="en-IN" sz="1600" dirty="0">
                <a:latin typeface="Times New Roman" panose="02020603050405020304" pitchFamily="18" charset="0"/>
                <a:cs typeface="Times New Roman" panose="02020603050405020304" pitchFamily="18" charset="0"/>
              </a:rPr>
              <a:t>g</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Applications</a:t>
            </a:r>
          </a:p>
          <a:p>
            <a:pPr marL="285750" indent="-285750">
              <a:buFont typeface="Arial" panose="020B0604020202020204" pitchFamily="34" charset="0"/>
              <a:buChar char="•"/>
            </a:pPr>
            <a:r>
              <a:rPr lang="en-IN" sz="1600" spc="-15" dirty="0">
                <a:latin typeface="Times New Roman" panose="02020603050405020304" pitchFamily="18" charset="0"/>
                <a:cs typeface="Times New Roman" panose="02020603050405020304" pitchFamily="18" charset="0"/>
              </a:rPr>
              <a:t>C</a:t>
            </a:r>
            <a:r>
              <a:rPr lang="en-IN" sz="1600" dirty="0">
                <a:latin typeface="Times New Roman" panose="02020603050405020304" pitchFamily="18" charset="0"/>
                <a:cs typeface="Times New Roman" panose="02020603050405020304" pitchFamily="18" charset="0"/>
              </a:rPr>
              <a:t>on</a:t>
            </a:r>
            <a:r>
              <a:rPr lang="en-IN" sz="1600" spc="-20" dirty="0">
                <a:latin typeface="Times New Roman" panose="02020603050405020304" pitchFamily="18" charset="0"/>
                <a:cs typeface="Times New Roman" panose="02020603050405020304" pitchFamily="18" charset="0"/>
              </a:rPr>
              <a:t>c</a:t>
            </a:r>
            <a:r>
              <a:rPr lang="en-IN" sz="1600" spc="-5" dirty="0">
                <a:latin typeface="Times New Roman" panose="02020603050405020304" pitchFamily="18" charset="0"/>
                <a:cs typeface="Times New Roman" panose="02020603050405020304" pitchFamily="18" charset="0"/>
              </a:rPr>
              <a:t>lu</a:t>
            </a:r>
            <a:r>
              <a:rPr lang="en-IN" sz="1600" spc="-15" dirty="0">
                <a:latin typeface="Times New Roman" panose="02020603050405020304" pitchFamily="18" charset="0"/>
                <a:cs typeface="Times New Roman" panose="02020603050405020304" pitchFamily="18" charset="0"/>
              </a:rPr>
              <a:t>s</a:t>
            </a:r>
            <a:r>
              <a:rPr lang="en-IN" sz="1600" dirty="0">
                <a:latin typeface="Times New Roman" panose="02020603050405020304" pitchFamily="18" charset="0"/>
                <a:cs typeface="Times New Roman" panose="02020603050405020304" pitchFamily="18" charset="0"/>
              </a:rPr>
              <a:t>ion</a:t>
            </a:r>
            <a:r>
              <a:rPr lang="en-IN" sz="1600" spc="-35" dirty="0">
                <a:latin typeface="Times New Roman" panose="02020603050405020304" pitchFamily="18" charset="0"/>
                <a:cs typeface="Times New Roman" panose="02020603050405020304" pitchFamily="18" charset="0"/>
              </a:rPr>
              <a:t> </a:t>
            </a:r>
            <a:r>
              <a:rPr lang="en-IN" sz="1600" spc="-20" dirty="0">
                <a:latin typeface="Times New Roman" panose="02020603050405020304" pitchFamily="18" charset="0"/>
                <a:cs typeface="Times New Roman" panose="02020603050405020304" pitchFamily="18" charset="0"/>
              </a:rPr>
              <a:t>a</a:t>
            </a:r>
            <a:r>
              <a:rPr lang="en-IN" sz="1600" dirty="0">
                <a:latin typeface="Times New Roman" panose="02020603050405020304" pitchFamily="18" charset="0"/>
                <a:cs typeface="Times New Roman" panose="02020603050405020304" pitchFamily="18" charset="0"/>
              </a:rPr>
              <a:t>nd</a:t>
            </a:r>
            <a:r>
              <a:rPr lang="en-IN" sz="1600" spc="-15"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Fu</a:t>
            </a:r>
            <a:r>
              <a:rPr lang="en-IN" sz="1600" spc="-5" dirty="0">
                <a:latin typeface="Times New Roman" panose="02020603050405020304" pitchFamily="18" charset="0"/>
                <a:cs typeface="Times New Roman" panose="02020603050405020304" pitchFamily="18" charset="0"/>
              </a:rPr>
              <a:t>tu</a:t>
            </a:r>
            <a:r>
              <a:rPr lang="en-IN" sz="1600" spc="-10" dirty="0">
                <a:latin typeface="Times New Roman" panose="02020603050405020304" pitchFamily="18" charset="0"/>
                <a:cs typeface="Times New Roman" panose="02020603050405020304" pitchFamily="18" charset="0"/>
              </a:rPr>
              <a:t>re</a:t>
            </a:r>
            <a:r>
              <a:rPr lang="en-IN" sz="1600" spc="-20"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S</a:t>
            </a:r>
            <a:r>
              <a:rPr lang="en-IN" sz="1600" spc="-20" dirty="0">
                <a:latin typeface="Times New Roman" panose="02020603050405020304" pitchFamily="18" charset="0"/>
                <a:cs typeface="Times New Roman" panose="02020603050405020304" pitchFamily="18" charset="0"/>
              </a:rPr>
              <a:t>c</a:t>
            </a:r>
            <a:r>
              <a:rPr lang="en-IN" sz="1600" dirty="0">
                <a:latin typeface="Times New Roman" panose="02020603050405020304" pitchFamily="18" charset="0"/>
                <a:cs typeface="Times New Roman" panose="02020603050405020304" pitchFamily="18" charset="0"/>
              </a:rPr>
              <a:t>op</a:t>
            </a:r>
            <a:r>
              <a:rPr lang="en-IN" sz="1600" spc="-10" dirty="0">
                <a:latin typeface="Times New Roman" panose="02020603050405020304" pitchFamily="18" charset="0"/>
                <a:cs typeface="Times New Roman" panose="02020603050405020304" pitchFamily="18" charset="0"/>
              </a:rPr>
              <a:t>e</a:t>
            </a:r>
          </a:p>
          <a:p>
            <a:pPr marL="285750" indent="-285750">
              <a:buFont typeface="Arial" panose="020B0604020202020204" pitchFamily="34" charset="0"/>
              <a:buChar char="•"/>
            </a:pPr>
            <a:r>
              <a:rPr lang="en-IN" sz="1600" spc="-10" dirty="0">
                <a:latin typeface="Times New Roman" panose="02020603050405020304" pitchFamily="18" charset="0"/>
                <a:cs typeface="Times New Roman" panose="02020603050405020304" pitchFamily="18" charset="0"/>
              </a:rPr>
              <a:t>References</a:t>
            </a:r>
          </a:p>
          <a:p>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p:txBody>
      </p:sp>
      <p:cxnSp>
        <p:nvCxnSpPr>
          <p:cNvPr id="10" name="Straight Connector 9">
            <a:extLst>
              <a:ext uri="{FF2B5EF4-FFF2-40B4-BE49-F238E27FC236}">
                <a16:creationId xmlns:a16="http://schemas.microsoft.com/office/drawing/2014/main" id="{BA990900-2126-B080-C9FA-E7C912904737}"/>
              </a:ext>
            </a:extLst>
          </p:cNvPr>
          <p:cNvCxnSpPr/>
          <p:nvPr/>
        </p:nvCxnSpPr>
        <p:spPr>
          <a:xfrm>
            <a:off x="541176" y="984230"/>
            <a:ext cx="7903028" cy="0"/>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0978649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55EA50A0-200E-1070-2A8E-FBEE7C29DAB9}"/>
              </a:ext>
            </a:extLst>
          </p:cNvPr>
          <p:cNvSpPr txBox="1"/>
          <p:nvPr/>
        </p:nvSpPr>
        <p:spPr>
          <a:xfrm>
            <a:off x="475861" y="266802"/>
            <a:ext cx="2392045" cy="557845"/>
          </a:xfrm>
          <a:prstGeom prst="rect">
            <a:avLst/>
          </a:prstGeom>
        </p:spPr>
        <p:txBody>
          <a:bodyPr vert="horz" wrap="square" lIns="0" tIns="0" rIns="0" bIns="0" rtlCol="0">
            <a:spAutoFit/>
          </a:bodyPr>
          <a:lstStyle/>
          <a:p>
            <a:pPr marL="12700">
              <a:lnSpc>
                <a:spcPts val="4780"/>
              </a:lnSpc>
            </a:pPr>
            <a:r>
              <a:rPr lang="en-IN" sz="2800" b="1" spc="-30" dirty="0">
                <a:latin typeface="Times New Roman"/>
                <a:cs typeface="Times New Roman"/>
              </a:rPr>
              <a:t>ABSTRACT</a:t>
            </a:r>
            <a:endParaRPr sz="2800" b="1" dirty="0">
              <a:latin typeface="Times New Roman"/>
              <a:cs typeface="Times New Roman"/>
            </a:endParaRPr>
          </a:p>
        </p:txBody>
      </p:sp>
      <p:pic>
        <p:nvPicPr>
          <p:cNvPr id="3074" name="Picture 2" descr="Overview | Invertis University">
            <a:extLst>
              <a:ext uri="{FF2B5EF4-FFF2-40B4-BE49-F238E27FC236}">
                <a16:creationId xmlns:a16="http://schemas.microsoft.com/office/drawing/2014/main" id="{B79D68D0-B04A-DDBC-CCC2-0A99CDD2B5F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091723" y="73465"/>
            <a:ext cx="929892" cy="91076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574A12B-015F-5273-FCDD-A8ABA99CD8E4}"/>
              </a:ext>
            </a:extLst>
          </p:cNvPr>
          <p:cNvSpPr txBox="1"/>
          <p:nvPr/>
        </p:nvSpPr>
        <p:spPr>
          <a:xfrm>
            <a:off x="323123" y="1626453"/>
            <a:ext cx="11545754" cy="4247317"/>
          </a:xfrm>
          <a:prstGeom prst="rect">
            <a:avLst/>
          </a:prstGeom>
          <a:noFill/>
        </p:spPr>
        <p:txBody>
          <a:bodyPr wrap="square" rtlCol="0">
            <a:spAutoFit/>
          </a:bodyPr>
          <a:lstStyle/>
          <a:p>
            <a:r>
              <a:rPr lang="en-US" dirty="0"/>
              <a:t>The AI-based Resume Screening Tool is designed to modernize and automate the recruitment process using advanced technologies such as Natural Language Processing (NLP) and Large Language Models (LLMs). In today’s competitive job market, organizations receive a large number of applications for a single position, making manual screening time-consuming and inefficient. This system addresses that challenge by automatically extracting key information from resumes, such as skills, education, and experience, and analyzing it in a structured manner.</a:t>
            </a:r>
          </a:p>
          <a:p>
            <a:endParaRPr lang="en-US" dirty="0"/>
          </a:p>
          <a:p>
            <a:r>
              <a:rPr lang="en-US" dirty="0"/>
              <a:t>The tool utilizes semantic similarity techniques, including Sentence Transformers, to compare resumes with job descriptions based on contextual meaning rather than simple keyword matching. This ensures more accurate candidate ranking and better alignment with job requirements. By reducing human intervention, the system minimizes bias, improves consistency, and significantly speeds up the hiring process, enabling recruiters to focus on decision-making rather than manual filtering.</a:t>
            </a:r>
          </a:p>
          <a:p>
            <a:endParaRPr lang="en-US" dirty="0"/>
          </a:p>
          <a:p>
            <a:r>
              <a:rPr lang="en-US" dirty="0"/>
              <a:t>In addition to screening, the system provides value-added features such as resume optimization and AI-driven mock interviews. Candidates receive constructive feedback to improve their resumes and interview performance. Overall, the tool benefits both recruiters and job seekers by creating a faster, fairer, and more efficient hiring ecosystem.</a:t>
            </a:r>
          </a:p>
        </p:txBody>
      </p:sp>
      <p:cxnSp>
        <p:nvCxnSpPr>
          <p:cNvPr id="10" name="Straight Connector 9">
            <a:extLst>
              <a:ext uri="{FF2B5EF4-FFF2-40B4-BE49-F238E27FC236}">
                <a16:creationId xmlns:a16="http://schemas.microsoft.com/office/drawing/2014/main" id="{BA990900-2126-B080-C9FA-E7C912904737}"/>
              </a:ext>
            </a:extLst>
          </p:cNvPr>
          <p:cNvCxnSpPr/>
          <p:nvPr/>
        </p:nvCxnSpPr>
        <p:spPr>
          <a:xfrm>
            <a:off x="541176" y="984230"/>
            <a:ext cx="7903028" cy="0"/>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41803697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55EA50A0-200E-1070-2A8E-FBEE7C29DAB9}"/>
              </a:ext>
            </a:extLst>
          </p:cNvPr>
          <p:cNvSpPr txBox="1"/>
          <p:nvPr/>
        </p:nvSpPr>
        <p:spPr>
          <a:xfrm>
            <a:off x="475860" y="266802"/>
            <a:ext cx="4833257" cy="557845"/>
          </a:xfrm>
          <a:prstGeom prst="rect">
            <a:avLst/>
          </a:prstGeom>
        </p:spPr>
        <p:txBody>
          <a:bodyPr vert="horz" wrap="square" lIns="0" tIns="0" rIns="0" bIns="0" rtlCol="0">
            <a:spAutoFit/>
          </a:bodyPr>
          <a:lstStyle/>
          <a:p>
            <a:pPr marL="12700">
              <a:lnSpc>
                <a:spcPts val="4780"/>
              </a:lnSpc>
            </a:pPr>
            <a:r>
              <a:rPr lang="en-IN" sz="3200" b="1" spc="-30" dirty="0">
                <a:latin typeface="Times New Roman"/>
                <a:cs typeface="Times New Roman"/>
              </a:rPr>
              <a:t>OBJECTIVES</a:t>
            </a:r>
            <a:endParaRPr sz="3200" b="1" dirty="0">
              <a:latin typeface="Times New Roman"/>
              <a:cs typeface="Times New Roman"/>
            </a:endParaRPr>
          </a:p>
        </p:txBody>
      </p:sp>
      <p:pic>
        <p:nvPicPr>
          <p:cNvPr id="3074" name="Picture 2" descr="Overview | Invertis University">
            <a:extLst>
              <a:ext uri="{FF2B5EF4-FFF2-40B4-BE49-F238E27FC236}">
                <a16:creationId xmlns:a16="http://schemas.microsoft.com/office/drawing/2014/main" id="{B79D68D0-B04A-DDBC-CCC2-0A99CDD2B5F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091723" y="73465"/>
            <a:ext cx="929892" cy="91076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574A12B-015F-5273-FCDD-A8ABA99CD8E4}"/>
              </a:ext>
            </a:extLst>
          </p:cNvPr>
          <p:cNvSpPr txBox="1"/>
          <p:nvPr/>
        </p:nvSpPr>
        <p:spPr>
          <a:xfrm>
            <a:off x="1048815" y="4150221"/>
            <a:ext cx="10972800" cy="1723549"/>
          </a:xfrm>
          <a:prstGeom prst="rect">
            <a:avLst/>
          </a:prstGeom>
          <a:noFill/>
        </p:spPr>
        <p:txBody>
          <a:bodyPr wrap="square" rtlCol="0">
            <a:spAutoFit/>
          </a:bodyPr>
          <a:lstStyle/>
          <a:p>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p:txBody>
      </p:sp>
      <p:cxnSp>
        <p:nvCxnSpPr>
          <p:cNvPr id="10" name="Straight Connector 9">
            <a:extLst>
              <a:ext uri="{FF2B5EF4-FFF2-40B4-BE49-F238E27FC236}">
                <a16:creationId xmlns:a16="http://schemas.microsoft.com/office/drawing/2014/main" id="{BA990900-2126-B080-C9FA-E7C912904737}"/>
              </a:ext>
            </a:extLst>
          </p:cNvPr>
          <p:cNvCxnSpPr/>
          <p:nvPr/>
        </p:nvCxnSpPr>
        <p:spPr>
          <a:xfrm>
            <a:off x="541176" y="984230"/>
            <a:ext cx="7903028" cy="0"/>
          </a:xfrm>
          <a:prstGeom prst="line">
            <a:avLst/>
          </a:prstGeom>
        </p:spPr>
        <p:style>
          <a:lnRef idx="3">
            <a:schemeClr val="accent2"/>
          </a:lnRef>
          <a:fillRef idx="0">
            <a:schemeClr val="accent2"/>
          </a:fillRef>
          <a:effectRef idx="2">
            <a:schemeClr val="accent2"/>
          </a:effectRef>
          <a:fontRef idx="minor">
            <a:schemeClr val="tx1"/>
          </a:fontRef>
        </p:style>
      </p:cxnSp>
      <p:sp>
        <p:nvSpPr>
          <p:cNvPr id="3" name="Rectangle 2">
            <a:extLst>
              <a:ext uri="{FF2B5EF4-FFF2-40B4-BE49-F238E27FC236}">
                <a16:creationId xmlns:a16="http://schemas.microsoft.com/office/drawing/2014/main" id="{BB3A977E-3BAD-B7D7-D893-6B515CD9A785}"/>
              </a:ext>
            </a:extLst>
          </p:cNvPr>
          <p:cNvSpPr>
            <a:spLocks noChangeArrowheads="1"/>
          </p:cNvSpPr>
          <p:nvPr/>
        </p:nvSpPr>
        <p:spPr bwMode="auto">
          <a:xfrm>
            <a:off x="170385" y="1457626"/>
            <a:ext cx="5596404"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Automate resume screening using AI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Improve candidate-job matching accuracy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Reduce human bias in recruitment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Save time and effort for recruiters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Provide intelligent feedback to candidates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Enable resume optimization and mock interviews </a:t>
            </a:r>
          </a:p>
        </p:txBody>
      </p:sp>
      <p:pic>
        <p:nvPicPr>
          <p:cNvPr id="9" name="Picture 8">
            <a:extLst>
              <a:ext uri="{FF2B5EF4-FFF2-40B4-BE49-F238E27FC236}">
                <a16:creationId xmlns:a16="http://schemas.microsoft.com/office/drawing/2014/main" id="{5E001061-31DE-9DA0-669C-04C37BD682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11687" y="1143813"/>
            <a:ext cx="6309928" cy="4305779"/>
          </a:xfrm>
          <a:prstGeom prst="rect">
            <a:avLst/>
          </a:prstGeom>
        </p:spPr>
      </p:pic>
    </p:spTree>
    <p:extLst>
      <p:ext uri="{BB962C8B-B14F-4D97-AF65-F5344CB8AC3E}">
        <p14:creationId xmlns:p14="http://schemas.microsoft.com/office/powerpoint/2010/main" val="23101266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55EA50A0-200E-1070-2A8E-FBEE7C29DAB9}"/>
              </a:ext>
            </a:extLst>
          </p:cNvPr>
          <p:cNvSpPr txBox="1"/>
          <p:nvPr/>
        </p:nvSpPr>
        <p:spPr>
          <a:xfrm>
            <a:off x="475860" y="266802"/>
            <a:ext cx="4833257" cy="557845"/>
          </a:xfrm>
          <a:prstGeom prst="rect">
            <a:avLst/>
          </a:prstGeom>
        </p:spPr>
        <p:txBody>
          <a:bodyPr vert="horz" wrap="square" lIns="0" tIns="0" rIns="0" bIns="0" rtlCol="0">
            <a:spAutoFit/>
          </a:bodyPr>
          <a:lstStyle/>
          <a:p>
            <a:pPr marL="12700">
              <a:lnSpc>
                <a:spcPts val="4780"/>
              </a:lnSpc>
            </a:pPr>
            <a:r>
              <a:rPr lang="en-IN" sz="2800" b="1" spc="-30" dirty="0">
                <a:latin typeface="Times New Roman"/>
                <a:cs typeface="Times New Roman"/>
              </a:rPr>
              <a:t>MOTIVATION</a:t>
            </a:r>
            <a:endParaRPr sz="2800" b="1" dirty="0">
              <a:latin typeface="Times New Roman"/>
              <a:cs typeface="Times New Roman"/>
            </a:endParaRPr>
          </a:p>
        </p:txBody>
      </p:sp>
      <p:pic>
        <p:nvPicPr>
          <p:cNvPr id="3074" name="Picture 2" descr="Overview | Invertis University">
            <a:extLst>
              <a:ext uri="{FF2B5EF4-FFF2-40B4-BE49-F238E27FC236}">
                <a16:creationId xmlns:a16="http://schemas.microsoft.com/office/drawing/2014/main" id="{B79D68D0-B04A-DDBC-CCC2-0A99CDD2B5F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091723" y="73465"/>
            <a:ext cx="929892" cy="91076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574A12B-015F-5273-FCDD-A8ABA99CD8E4}"/>
              </a:ext>
            </a:extLst>
          </p:cNvPr>
          <p:cNvSpPr txBox="1"/>
          <p:nvPr/>
        </p:nvSpPr>
        <p:spPr>
          <a:xfrm>
            <a:off x="475860" y="984230"/>
            <a:ext cx="10972800" cy="5262979"/>
          </a:xfrm>
          <a:prstGeom prst="rect">
            <a:avLst/>
          </a:prstGeom>
          <a:noFill/>
        </p:spPr>
        <p:txBody>
          <a:bodyPr wrap="square" rtlCol="0">
            <a:spAutoFit/>
          </a:bodyPr>
          <a:lstStyle/>
          <a:p>
            <a:endParaRPr lang="en-IN" sz="1600" dirty="0">
              <a:latin typeface="Times New Roman" panose="02020603050405020304" pitchFamily="18" charset="0"/>
              <a:cs typeface="Times New Roman" panose="02020603050405020304" pitchFamily="18" charset="0"/>
            </a:endParaRPr>
          </a:p>
          <a:p>
            <a:r>
              <a:rPr lang="en-US" sz="2000" dirty="0"/>
              <a:t>The motivation behind developing the AI-Resume Intelligence Hub arises from the growing challenges in modern recruitment systems. With organizations receiving hundreds of resumes for a single job opening, manual screening has become inefficient, time-consuming, and prone to human error. Recruiters often spend a significant portion of their time reviewing applications, which delays the hiring process and affects productivity. Additionally, traditional methods may overlook qualified candidates due to unconscious bias or reliance on keyword-based filtering systems that fail to capture the true potential of applicants.</a:t>
            </a:r>
          </a:p>
          <a:p>
            <a:r>
              <a:rPr lang="en-US" sz="2000" dirty="0"/>
              <a:t>This project is motivated by the need to create a smarter, faster, and more reliable solution for resume evaluation. By leveraging advanced technologies such as Natural Language Processing (NLP) and Large Language Models (LLMs), the system can analyze resumes based on context and meaning rather than simple keyword matching. This improves accuracy in candidate selection and ensures a fair and unbiased recruitment process. The integration of semantic analysis allows for better alignment between candidate skills and job requirements.</a:t>
            </a:r>
          </a:p>
          <a:p>
            <a:r>
              <a:rPr lang="en-US" sz="2000" dirty="0"/>
              <a:t>Furthermore, the system aims to empower candidates by providing intelligent feedback, resume optimization, and mock interview support. This not only enhances their job readiness but also bridges the gap between applicants and recruiters, creating a more efficient and transparent hiring ecosystem.</a:t>
            </a:r>
          </a:p>
        </p:txBody>
      </p:sp>
      <p:cxnSp>
        <p:nvCxnSpPr>
          <p:cNvPr id="10" name="Straight Connector 9">
            <a:extLst>
              <a:ext uri="{FF2B5EF4-FFF2-40B4-BE49-F238E27FC236}">
                <a16:creationId xmlns:a16="http://schemas.microsoft.com/office/drawing/2014/main" id="{BA990900-2126-B080-C9FA-E7C912904737}"/>
              </a:ext>
            </a:extLst>
          </p:cNvPr>
          <p:cNvCxnSpPr/>
          <p:nvPr/>
        </p:nvCxnSpPr>
        <p:spPr>
          <a:xfrm>
            <a:off x="541176" y="984230"/>
            <a:ext cx="7903028" cy="0"/>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5020839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55EA50A0-200E-1070-2A8E-FBEE7C29DAB9}"/>
              </a:ext>
            </a:extLst>
          </p:cNvPr>
          <p:cNvSpPr txBox="1"/>
          <p:nvPr/>
        </p:nvSpPr>
        <p:spPr>
          <a:xfrm>
            <a:off x="475860" y="266802"/>
            <a:ext cx="4833257" cy="557845"/>
          </a:xfrm>
          <a:prstGeom prst="rect">
            <a:avLst/>
          </a:prstGeom>
        </p:spPr>
        <p:txBody>
          <a:bodyPr vert="horz" wrap="square" lIns="0" tIns="0" rIns="0" bIns="0" rtlCol="0">
            <a:spAutoFit/>
          </a:bodyPr>
          <a:lstStyle/>
          <a:p>
            <a:pPr marL="12700">
              <a:lnSpc>
                <a:spcPts val="4780"/>
              </a:lnSpc>
            </a:pPr>
            <a:r>
              <a:rPr lang="en-IN" sz="2800" b="1" spc="-30" dirty="0">
                <a:latin typeface="Times New Roman"/>
                <a:cs typeface="Times New Roman"/>
              </a:rPr>
              <a:t>LITERATURE SURVEY</a:t>
            </a:r>
            <a:endParaRPr sz="2800" b="1" dirty="0">
              <a:latin typeface="Times New Roman"/>
              <a:cs typeface="Times New Roman"/>
            </a:endParaRPr>
          </a:p>
        </p:txBody>
      </p:sp>
      <p:pic>
        <p:nvPicPr>
          <p:cNvPr id="3074" name="Picture 2" descr="Overview | Invertis University">
            <a:extLst>
              <a:ext uri="{FF2B5EF4-FFF2-40B4-BE49-F238E27FC236}">
                <a16:creationId xmlns:a16="http://schemas.microsoft.com/office/drawing/2014/main" id="{B79D68D0-B04A-DDBC-CCC2-0A99CDD2B5F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091723" y="73465"/>
            <a:ext cx="929892" cy="910765"/>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Straight Connector 9">
            <a:extLst>
              <a:ext uri="{FF2B5EF4-FFF2-40B4-BE49-F238E27FC236}">
                <a16:creationId xmlns:a16="http://schemas.microsoft.com/office/drawing/2014/main" id="{BA990900-2126-B080-C9FA-E7C912904737}"/>
              </a:ext>
            </a:extLst>
          </p:cNvPr>
          <p:cNvCxnSpPr/>
          <p:nvPr/>
        </p:nvCxnSpPr>
        <p:spPr>
          <a:xfrm>
            <a:off x="541176" y="984230"/>
            <a:ext cx="7903028" cy="0"/>
          </a:xfrm>
          <a:prstGeom prst="line">
            <a:avLst/>
          </a:prstGeom>
        </p:spPr>
        <p:style>
          <a:lnRef idx="3">
            <a:schemeClr val="accent2"/>
          </a:lnRef>
          <a:fillRef idx="0">
            <a:schemeClr val="accent2"/>
          </a:fillRef>
          <a:effectRef idx="2">
            <a:schemeClr val="accent2"/>
          </a:effectRef>
          <a:fontRef idx="minor">
            <a:schemeClr val="tx1"/>
          </a:fontRef>
        </p:style>
      </p:cxnSp>
      <p:sp>
        <p:nvSpPr>
          <p:cNvPr id="9" name="Rectangle 1">
            <a:extLst>
              <a:ext uri="{FF2B5EF4-FFF2-40B4-BE49-F238E27FC236}">
                <a16:creationId xmlns:a16="http://schemas.microsoft.com/office/drawing/2014/main" id="{0E781B8C-ED58-D6AF-171A-6CAECEF18AA4}"/>
              </a:ext>
            </a:extLst>
          </p:cNvPr>
          <p:cNvSpPr>
            <a:spLocks noChangeArrowheads="1"/>
          </p:cNvSpPr>
          <p:nvPr/>
        </p:nvSpPr>
        <p:spPr bwMode="auto">
          <a:xfrm>
            <a:off x="3359150" y="208121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br>
              <a:rPr kumimoji="0" lang="en-US" altLang="en-US" sz="1200" b="0" i="0" u="none" strike="noStrike" cap="none" normalizeH="0" baseline="0">
                <a:ln>
                  <a:noFill/>
                </a:ln>
                <a:solidFill>
                  <a:schemeClr val="tx1"/>
                </a:solidFill>
                <a:effectLst/>
                <a:latin typeface="pplxSerif"/>
              </a:rPr>
            </a:br>
            <a:endParaRPr kumimoji="0" lang="en-US" altLang="en-US" sz="1200" b="0" i="0" u="none" strike="noStrike" cap="none" normalizeH="0" baseline="0">
              <a:ln>
                <a:noFill/>
              </a:ln>
              <a:solidFill>
                <a:schemeClr val="tx1"/>
              </a:solidFill>
              <a:effectLst/>
              <a:latin typeface="pplxSerif"/>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2" name="Table 1">
            <a:extLst>
              <a:ext uri="{FF2B5EF4-FFF2-40B4-BE49-F238E27FC236}">
                <a16:creationId xmlns:a16="http://schemas.microsoft.com/office/drawing/2014/main" id="{A0E3A7A9-3E88-E54E-26C8-BEA0C2F9C549}"/>
              </a:ext>
            </a:extLst>
          </p:cNvPr>
          <p:cNvGraphicFramePr>
            <a:graphicFrameLocks noGrp="1"/>
          </p:cNvGraphicFramePr>
          <p:nvPr>
            <p:extLst>
              <p:ext uri="{D42A27DB-BD31-4B8C-83A1-F6EECF244321}">
                <p14:modId xmlns:p14="http://schemas.microsoft.com/office/powerpoint/2010/main" val="2073360190"/>
              </p:ext>
            </p:extLst>
          </p:nvPr>
        </p:nvGraphicFramePr>
        <p:xfrm>
          <a:off x="206462" y="1292570"/>
          <a:ext cx="11913895" cy="5105478"/>
        </p:xfrm>
        <a:graphic>
          <a:graphicData uri="http://schemas.openxmlformats.org/drawingml/2006/table">
            <a:tbl>
              <a:tblPr firstRow="1" bandRow="1">
                <a:tableStyleId>{5940675A-B579-460E-94D1-54222C63F5DA}</a:tableStyleId>
              </a:tblPr>
              <a:tblGrid>
                <a:gridCol w="1701985">
                  <a:extLst>
                    <a:ext uri="{9D8B030D-6E8A-4147-A177-3AD203B41FA5}">
                      <a16:colId xmlns:a16="http://schemas.microsoft.com/office/drawing/2014/main" val="434741006"/>
                    </a:ext>
                  </a:extLst>
                </a:gridCol>
                <a:gridCol w="1701985">
                  <a:extLst>
                    <a:ext uri="{9D8B030D-6E8A-4147-A177-3AD203B41FA5}">
                      <a16:colId xmlns:a16="http://schemas.microsoft.com/office/drawing/2014/main" val="2571436036"/>
                    </a:ext>
                  </a:extLst>
                </a:gridCol>
                <a:gridCol w="1701985">
                  <a:extLst>
                    <a:ext uri="{9D8B030D-6E8A-4147-A177-3AD203B41FA5}">
                      <a16:colId xmlns:a16="http://schemas.microsoft.com/office/drawing/2014/main" val="333219009"/>
                    </a:ext>
                  </a:extLst>
                </a:gridCol>
                <a:gridCol w="1701985">
                  <a:extLst>
                    <a:ext uri="{9D8B030D-6E8A-4147-A177-3AD203B41FA5}">
                      <a16:colId xmlns:a16="http://schemas.microsoft.com/office/drawing/2014/main" val="1516314250"/>
                    </a:ext>
                  </a:extLst>
                </a:gridCol>
                <a:gridCol w="1701985">
                  <a:extLst>
                    <a:ext uri="{9D8B030D-6E8A-4147-A177-3AD203B41FA5}">
                      <a16:colId xmlns:a16="http://schemas.microsoft.com/office/drawing/2014/main" val="3711871126"/>
                    </a:ext>
                  </a:extLst>
                </a:gridCol>
                <a:gridCol w="1701985">
                  <a:extLst>
                    <a:ext uri="{9D8B030D-6E8A-4147-A177-3AD203B41FA5}">
                      <a16:colId xmlns:a16="http://schemas.microsoft.com/office/drawing/2014/main" val="1106028162"/>
                    </a:ext>
                  </a:extLst>
                </a:gridCol>
                <a:gridCol w="1701985">
                  <a:extLst>
                    <a:ext uri="{9D8B030D-6E8A-4147-A177-3AD203B41FA5}">
                      <a16:colId xmlns:a16="http://schemas.microsoft.com/office/drawing/2014/main" val="3406440306"/>
                    </a:ext>
                  </a:extLst>
                </a:gridCol>
              </a:tblGrid>
              <a:tr h="344480">
                <a:tc>
                  <a:txBody>
                    <a:bodyPr/>
                    <a:lstStyle/>
                    <a:p>
                      <a:endParaRPr lang="en-IN"/>
                    </a:p>
                  </a:txBody>
                  <a:tcPr/>
                </a:tc>
                <a:tc>
                  <a:txBody>
                    <a:bodyPr/>
                    <a:lstStyle/>
                    <a:p>
                      <a:endParaRPr lang="en-IN" dirty="0"/>
                    </a:p>
                  </a:txBody>
                  <a:tcPr/>
                </a:tc>
                <a:tc>
                  <a:txBody>
                    <a:bodyPr/>
                    <a:lstStyle/>
                    <a:p>
                      <a:endParaRPr lang="en-IN"/>
                    </a:p>
                  </a:txBody>
                  <a:tcPr/>
                </a:tc>
                <a:tc>
                  <a:txBody>
                    <a:bodyPr/>
                    <a:lstStyle/>
                    <a:p>
                      <a:endParaRPr lang="en-IN" dirty="0"/>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2737879745"/>
                  </a:ext>
                </a:extLst>
              </a:tr>
              <a:tr h="676958">
                <a:tc>
                  <a:txBody>
                    <a:bodyPr/>
                    <a:lstStyle/>
                    <a:p>
                      <a:pPr>
                        <a:buNone/>
                      </a:pPr>
                      <a:r>
                        <a:rPr lang="en-IN" dirty="0"/>
                        <a:t>S. No.</a:t>
                      </a:r>
                    </a:p>
                  </a:txBody>
                  <a:tcPr anchor="ctr"/>
                </a:tc>
                <a:tc>
                  <a:txBody>
                    <a:bodyPr/>
                    <a:lstStyle/>
                    <a:p>
                      <a:pPr>
                        <a:buNone/>
                      </a:pPr>
                      <a:r>
                        <a:rPr lang="en-IN"/>
                        <a:t>Paper Title</a:t>
                      </a:r>
                    </a:p>
                  </a:txBody>
                  <a:tcPr anchor="ctr"/>
                </a:tc>
                <a:tc>
                  <a:txBody>
                    <a:bodyPr/>
                    <a:lstStyle/>
                    <a:p>
                      <a:pPr>
                        <a:buNone/>
                      </a:pPr>
                      <a:r>
                        <a:rPr lang="en-IN" dirty="0"/>
                        <a:t>Authors</a:t>
                      </a:r>
                    </a:p>
                  </a:txBody>
                  <a:tcPr anchor="ctr"/>
                </a:tc>
                <a:tc>
                  <a:txBody>
                    <a:bodyPr/>
                    <a:lstStyle/>
                    <a:p>
                      <a:pPr>
                        <a:buNone/>
                      </a:pPr>
                      <a:r>
                        <a:rPr lang="en-IN"/>
                        <a:t>Year</a:t>
                      </a:r>
                    </a:p>
                  </a:txBody>
                  <a:tcPr anchor="ctr"/>
                </a:tc>
                <a:tc>
                  <a:txBody>
                    <a:bodyPr/>
                    <a:lstStyle/>
                    <a:p>
                      <a:pPr>
                        <a:buNone/>
                      </a:pPr>
                      <a:r>
                        <a:rPr lang="en-IN"/>
                        <a:t>Method/Model Used</a:t>
                      </a:r>
                    </a:p>
                  </a:txBody>
                  <a:tcPr anchor="ctr"/>
                </a:tc>
                <a:tc>
                  <a:txBody>
                    <a:bodyPr/>
                    <a:lstStyle/>
                    <a:p>
                      <a:pPr>
                        <a:buNone/>
                      </a:pPr>
                      <a:r>
                        <a:rPr lang="en-IN"/>
                        <a:t>Key Findings</a:t>
                      </a:r>
                    </a:p>
                  </a:txBody>
                  <a:tcPr anchor="ctr"/>
                </a:tc>
                <a:tc>
                  <a:txBody>
                    <a:bodyPr/>
                    <a:lstStyle/>
                    <a:p>
                      <a:pPr>
                        <a:buNone/>
                      </a:pPr>
                      <a:r>
                        <a:rPr lang="en-IN"/>
                        <a:t>Limitations</a:t>
                      </a:r>
                    </a:p>
                  </a:txBody>
                  <a:tcPr anchor="ctr"/>
                </a:tc>
                <a:extLst>
                  <a:ext uri="{0D108BD9-81ED-4DB2-BD59-A6C34878D82A}">
                    <a16:rowId xmlns:a16="http://schemas.microsoft.com/office/drawing/2014/main" val="254745892"/>
                  </a:ext>
                </a:extLst>
              </a:tr>
              <a:tr h="880044">
                <a:tc>
                  <a:txBody>
                    <a:bodyPr/>
                    <a:lstStyle/>
                    <a:p>
                      <a:pPr>
                        <a:buNone/>
                      </a:pPr>
                      <a:r>
                        <a:rPr lang="en-IN"/>
                        <a:t>1</a:t>
                      </a:r>
                    </a:p>
                  </a:txBody>
                  <a:tcPr anchor="ctr"/>
                </a:tc>
                <a:tc>
                  <a:txBody>
                    <a:bodyPr/>
                    <a:lstStyle/>
                    <a:p>
                      <a:pPr>
                        <a:buNone/>
                      </a:pPr>
                      <a:r>
                        <a:rPr lang="en-IN"/>
                        <a:t>Applicant Tracking Systems</a:t>
                      </a:r>
                    </a:p>
                  </a:txBody>
                  <a:tcPr anchor="ctr"/>
                </a:tc>
                <a:tc>
                  <a:txBody>
                    <a:bodyPr/>
                    <a:lstStyle/>
                    <a:p>
                      <a:pPr>
                        <a:buNone/>
                      </a:pPr>
                      <a:r>
                        <a:rPr lang="en-IN"/>
                        <a:t>Cappelli</a:t>
                      </a:r>
                    </a:p>
                  </a:txBody>
                  <a:tcPr anchor="ctr"/>
                </a:tc>
                <a:tc>
                  <a:txBody>
                    <a:bodyPr/>
                    <a:lstStyle/>
                    <a:p>
                      <a:pPr>
                        <a:buNone/>
                      </a:pPr>
                      <a:r>
                        <a:rPr lang="en-IN" dirty="0"/>
                        <a:t>2001</a:t>
                      </a:r>
                    </a:p>
                  </a:txBody>
                  <a:tcPr anchor="ctr"/>
                </a:tc>
                <a:tc>
                  <a:txBody>
                    <a:bodyPr/>
                    <a:lstStyle/>
                    <a:p>
                      <a:pPr>
                        <a:buNone/>
                      </a:pPr>
                      <a:r>
                        <a:rPr lang="en-IN"/>
                        <a:t>Keyword Matching</a:t>
                      </a:r>
                    </a:p>
                  </a:txBody>
                  <a:tcPr anchor="ctr"/>
                </a:tc>
                <a:tc>
                  <a:txBody>
                    <a:bodyPr/>
                    <a:lstStyle/>
                    <a:p>
                      <a:pPr>
                        <a:buNone/>
                      </a:pPr>
                      <a:r>
                        <a:rPr lang="en-IN" dirty="0"/>
                        <a:t>Fast resume filtering</a:t>
                      </a:r>
                    </a:p>
                  </a:txBody>
                  <a:tcPr anchor="ctr"/>
                </a:tc>
                <a:tc>
                  <a:txBody>
                    <a:bodyPr/>
                    <a:lstStyle/>
                    <a:p>
                      <a:pPr>
                        <a:buNone/>
                      </a:pPr>
                      <a:r>
                        <a:rPr lang="en-IN"/>
                        <a:t>No semantic understanding</a:t>
                      </a:r>
                    </a:p>
                  </a:txBody>
                  <a:tcPr anchor="ctr"/>
                </a:tc>
                <a:extLst>
                  <a:ext uri="{0D108BD9-81ED-4DB2-BD59-A6C34878D82A}">
                    <a16:rowId xmlns:a16="http://schemas.microsoft.com/office/drawing/2014/main" val="188868669"/>
                  </a:ext>
                </a:extLst>
              </a:tr>
              <a:tr h="880044">
                <a:tc>
                  <a:txBody>
                    <a:bodyPr/>
                    <a:lstStyle/>
                    <a:p>
                      <a:pPr>
                        <a:buNone/>
                      </a:pPr>
                      <a:r>
                        <a:rPr lang="en-IN"/>
                        <a:t>2</a:t>
                      </a:r>
                    </a:p>
                  </a:txBody>
                  <a:tcPr anchor="ctr"/>
                </a:tc>
                <a:tc>
                  <a:txBody>
                    <a:bodyPr/>
                    <a:lstStyle/>
                    <a:p>
                      <a:pPr>
                        <a:buNone/>
                      </a:pPr>
                      <a:r>
                        <a:rPr lang="en-IN"/>
                        <a:t>NLP for Resume Parsing</a:t>
                      </a:r>
                    </a:p>
                  </a:txBody>
                  <a:tcPr anchor="ctr"/>
                </a:tc>
                <a:tc>
                  <a:txBody>
                    <a:bodyPr/>
                    <a:lstStyle/>
                    <a:p>
                      <a:pPr>
                        <a:buNone/>
                      </a:pPr>
                      <a:r>
                        <a:rPr lang="en-IN"/>
                        <a:t>Honnibal &amp; Montani</a:t>
                      </a:r>
                    </a:p>
                  </a:txBody>
                  <a:tcPr anchor="ctr"/>
                </a:tc>
                <a:tc>
                  <a:txBody>
                    <a:bodyPr/>
                    <a:lstStyle/>
                    <a:p>
                      <a:pPr>
                        <a:buNone/>
                      </a:pPr>
                      <a:r>
                        <a:rPr lang="en-IN"/>
                        <a:t>2017</a:t>
                      </a:r>
                    </a:p>
                  </a:txBody>
                  <a:tcPr anchor="ctr"/>
                </a:tc>
                <a:tc>
                  <a:txBody>
                    <a:bodyPr/>
                    <a:lstStyle/>
                    <a:p>
                      <a:pPr>
                        <a:buNone/>
                      </a:pPr>
                      <a:r>
                        <a:rPr lang="en-IN" dirty="0" err="1"/>
                        <a:t>spaCy</a:t>
                      </a:r>
                      <a:r>
                        <a:rPr lang="en-IN" dirty="0"/>
                        <a:t> (NLP)</a:t>
                      </a:r>
                    </a:p>
                  </a:txBody>
                  <a:tcPr anchor="ctr"/>
                </a:tc>
                <a:tc>
                  <a:txBody>
                    <a:bodyPr/>
                    <a:lstStyle/>
                    <a:p>
                      <a:pPr>
                        <a:buNone/>
                      </a:pPr>
                      <a:r>
                        <a:rPr lang="en-IN"/>
                        <a:t>Extracts skills &amp; entities</a:t>
                      </a:r>
                    </a:p>
                  </a:txBody>
                  <a:tcPr anchor="ctr"/>
                </a:tc>
                <a:tc>
                  <a:txBody>
                    <a:bodyPr/>
                    <a:lstStyle/>
                    <a:p>
                      <a:pPr>
                        <a:buNone/>
                      </a:pPr>
                      <a:r>
                        <a:rPr lang="en-IN"/>
                        <a:t>Limited context understanding</a:t>
                      </a:r>
                    </a:p>
                  </a:txBody>
                  <a:tcPr anchor="ctr"/>
                </a:tc>
                <a:extLst>
                  <a:ext uri="{0D108BD9-81ED-4DB2-BD59-A6C34878D82A}">
                    <a16:rowId xmlns:a16="http://schemas.microsoft.com/office/drawing/2014/main" val="2568723541"/>
                  </a:ext>
                </a:extLst>
              </a:tr>
              <a:tr h="880044">
                <a:tc>
                  <a:txBody>
                    <a:bodyPr/>
                    <a:lstStyle/>
                    <a:p>
                      <a:pPr>
                        <a:buNone/>
                      </a:pPr>
                      <a:r>
                        <a:rPr lang="en-IN"/>
                        <a:t>3</a:t>
                      </a:r>
                    </a:p>
                  </a:txBody>
                  <a:tcPr anchor="ctr"/>
                </a:tc>
                <a:tc>
                  <a:txBody>
                    <a:bodyPr/>
                    <a:lstStyle/>
                    <a:p>
                      <a:pPr>
                        <a:buNone/>
                      </a:pPr>
                      <a:r>
                        <a:rPr lang="en-IN"/>
                        <a:t>BERT Model</a:t>
                      </a:r>
                    </a:p>
                  </a:txBody>
                  <a:tcPr anchor="ctr"/>
                </a:tc>
                <a:tc>
                  <a:txBody>
                    <a:bodyPr/>
                    <a:lstStyle/>
                    <a:p>
                      <a:pPr>
                        <a:buNone/>
                      </a:pPr>
                      <a:r>
                        <a:rPr lang="en-IN" dirty="0"/>
                        <a:t>Devlin et al.</a:t>
                      </a:r>
                    </a:p>
                  </a:txBody>
                  <a:tcPr anchor="ctr"/>
                </a:tc>
                <a:tc>
                  <a:txBody>
                    <a:bodyPr/>
                    <a:lstStyle/>
                    <a:p>
                      <a:pPr>
                        <a:buNone/>
                      </a:pPr>
                      <a:r>
                        <a:rPr lang="en-IN"/>
                        <a:t>2018</a:t>
                      </a:r>
                    </a:p>
                  </a:txBody>
                  <a:tcPr anchor="ctr"/>
                </a:tc>
                <a:tc>
                  <a:txBody>
                    <a:bodyPr/>
                    <a:lstStyle/>
                    <a:p>
                      <a:pPr>
                        <a:buNone/>
                      </a:pPr>
                      <a:r>
                        <a:rPr lang="en-IN" dirty="0"/>
                        <a:t>Transformer</a:t>
                      </a:r>
                    </a:p>
                  </a:txBody>
                  <a:tcPr anchor="ctr"/>
                </a:tc>
                <a:tc>
                  <a:txBody>
                    <a:bodyPr/>
                    <a:lstStyle/>
                    <a:p>
                      <a:pPr>
                        <a:buNone/>
                      </a:pPr>
                      <a:r>
                        <a:rPr lang="en-US"/>
                        <a:t>High accuracy in text analysis</a:t>
                      </a:r>
                    </a:p>
                  </a:txBody>
                  <a:tcPr anchor="ctr"/>
                </a:tc>
                <a:tc>
                  <a:txBody>
                    <a:bodyPr/>
                    <a:lstStyle/>
                    <a:p>
                      <a:pPr>
                        <a:buNone/>
                      </a:pPr>
                      <a:r>
                        <a:rPr lang="en-IN"/>
                        <a:t>High computational cost</a:t>
                      </a:r>
                    </a:p>
                  </a:txBody>
                  <a:tcPr anchor="ctr"/>
                </a:tc>
                <a:extLst>
                  <a:ext uri="{0D108BD9-81ED-4DB2-BD59-A6C34878D82A}">
                    <a16:rowId xmlns:a16="http://schemas.microsoft.com/office/drawing/2014/main" val="3950772856"/>
                  </a:ext>
                </a:extLst>
              </a:tr>
              <a:tr h="676958">
                <a:tc>
                  <a:txBody>
                    <a:bodyPr/>
                    <a:lstStyle/>
                    <a:p>
                      <a:pPr>
                        <a:buNone/>
                      </a:pPr>
                      <a:r>
                        <a:rPr lang="en-IN"/>
                        <a:t>4</a:t>
                      </a:r>
                    </a:p>
                  </a:txBody>
                  <a:tcPr anchor="ctr"/>
                </a:tc>
                <a:tc>
                  <a:txBody>
                    <a:bodyPr/>
                    <a:lstStyle/>
                    <a:p>
                      <a:pPr>
                        <a:buNone/>
                      </a:pPr>
                      <a:r>
                        <a:rPr lang="en-IN"/>
                        <a:t>Sentence-BERT</a:t>
                      </a:r>
                    </a:p>
                  </a:txBody>
                  <a:tcPr anchor="ctr"/>
                </a:tc>
                <a:tc>
                  <a:txBody>
                    <a:bodyPr/>
                    <a:lstStyle/>
                    <a:p>
                      <a:pPr>
                        <a:buNone/>
                      </a:pPr>
                      <a:r>
                        <a:rPr lang="en-IN"/>
                        <a:t>Reimers &amp; Gurevych</a:t>
                      </a:r>
                    </a:p>
                  </a:txBody>
                  <a:tcPr anchor="ctr"/>
                </a:tc>
                <a:tc>
                  <a:txBody>
                    <a:bodyPr/>
                    <a:lstStyle/>
                    <a:p>
                      <a:pPr>
                        <a:buNone/>
                      </a:pPr>
                      <a:r>
                        <a:rPr lang="en-IN"/>
                        <a:t>2019</a:t>
                      </a:r>
                    </a:p>
                  </a:txBody>
                  <a:tcPr anchor="ctr"/>
                </a:tc>
                <a:tc>
                  <a:txBody>
                    <a:bodyPr/>
                    <a:lstStyle/>
                    <a:p>
                      <a:pPr>
                        <a:buNone/>
                      </a:pPr>
                      <a:r>
                        <a:rPr lang="en-IN" dirty="0"/>
                        <a:t>Semantic Similarity</a:t>
                      </a:r>
                    </a:p>
                  </a:txBody>
                  <a:tcPr anchor="ctr"/>
                </a:tc>
                <a:tc>
                  <a:txBody>
                    <a:bodyPr/>
                    <a:lstStyle/>
                    <a:p>
                      <a:pPr>
                        <a:buNone/>
                      </a:pPr>
                      <a:r>
                        <a:rPr lang="en-IN"/>
                        <a:t>Context-based matching</a:t>
                      </a:r>
                    </a:p>
                  </a:txBody>
                  <a:tcPr anchor="ctr"/>
                </a:tc>
                <a:tc>
                  <a:txBody>
                    <a:bodyPr/>
                    <a:lstStyle/>
                    <a:p>
                      <a:pPr>
                        <a:buNone/>
                      </a:pPr>
                      <a:r>
                        <a:rPr lang="en-IN"/>
                        <a:t>Needs training data</a:t>
                      </a:r>
                    </a:p>
                  </a:txBody>
                  <a:tcPr anchor="ctr"/>
                </a:tc>
                <a:extLst>
                  <a:ext uri="{0D108BD9-81ED-4DB2-BD59-A6C34878D82A}">
                    <a16:rowId xmlns:a16="http://schemas.microsoft.com/office/drawing/2014/main" val="2109711706"/>
                  </a:ext>
                </a:extLst>
              </a:tr>
              <a:tr h="676958">
                <a:tc>
                  <a:txBody>
                    <a:bodyPr/>
                    <a:lstStyle/>
                    <a:p>
                      <a:pPr>
                        <a:buNone/>
                      </a:pPr>
                      <a:r>
                        <a:rPr lang="en-IN"/>
                        <a:t>5</a:t>
                      </a:r>
                    </a:p>
                  </a:txBody>
                  <a:tcPr anchor="ctr"/>
                </a:tc>
                <a:tc>
                  <a:txBody>
                    <a:bodyPr/>
                    <a:lstStyle/>
                    <a:p>
                      <a:pPr>
                        <a:buNone/>
                      </a:pPr>
                      <a:r>
                        <a:rPr lang="en-IN" dirty="0"/>
                        <a:t>AI in Recruitment</a:t>
                      </a:r>
                    </a:p>
                  </a:txBody>
                  <a:tcPr anchor="ctr"/>
                </a:tc>
                <a:tc>
                  <a:txBody>
                    <a:bodyPr/>
                    <a:lstStyle/>
                    <a:p>
                      <a:pPr>
                        <a:buNone/>
                      </a:pPr>
                      <a:r>
                        <a:rPr lang="en-IN"/>
                        <a:t>Various</a:t>
                      </a:r>
                    </a:p>
                  </a:txBody>
                  <a:tcPr anchor="ctr"/>
                </a:tc>
                <a:tc>
                  <a:txBody>
                    <a:bodyPr/>
                    <a:lstStyle/>
                    <a:p>
                      <a:pPr>
                        <a:buNone/>
                      </a:pPr>
                      <a:r>
                        <a:rPr lang="en-IN"/>
                        <a:t>2020+</a:t>
                      </a:r>
                    </a:p>
                  </a:txBody>
                  <a:tcPr anchor="ctr"/>
                </a:tc>
                <a:tc>
                  <a:txBody>
                    <a:bodyPr/>
                    <a:lstStyle/>
                    <a:p>
                      <a:pPr>
                        <a:buNone/>
                      </a:pPr>
                      <a:r>
                        <a:rPr lang="en-IN"/>
                        <a:t>Hybrid AI Models</a:t>
                      </a:r>
                    </a:p>
                  </a:txBody>
                  <a:tcPr anchor="ctr"/>
                </a:tc>
                <a:tc>
                  <a:txBody>
                    <a:bodyPr/>
                    <a:lstStyle/>
                    <a:p>
                      <a:pPr>
                        <a:buNone/>
                      </a:pPr>
                      <a:r>
                        <a:rPr lang="en-IN"/>
                        <a:t>Improves hiring efficiency</a:t>
                      </a:r>
                    </a:p>
                  </a:txBody>
                  <a:tcPr anchor="ctr"/>
                </a:tc>
                <a:tc>
                  <a:txBody>
                    <a:bodyPr/>
                    <a:lstStyle/>
                    <a:p>
                      <a:pPr>
                        <a:buNone/>
                      </a:pPr>
                      <a:r>
                        <a:rPr lang="en-IN" dirty="0"/>
                        <a:t>Lack of transparency</a:t>
                      </a:r>
                    </a:p>
                  </a:txBody>
                  <a:tcPr anchor="ctr"/>
                </a:tc>
                <a:extLst>
                  <a:ext uri="{0D108BD9-81ED-4DB2-BD59-A6C34878D82A}">
                    <a16:rowId xmlns:a16="http://schemas.microsoft.com/office/drawing/2014/main" val="528727366"/>
                  </a:ext>
                </a:extLst>
              </a:tr>
            </a:tbl>
          </a:graphicData>
        </a:graphic>
      </p:graphicFrame>
    </p:spTree>
    <p:extLst>
      <p:ext uri="{BB962C8B-B14F-4D97-AF65-F5344CB8AC3E}">
        <p14:creationId xmlns:p14="http://schemas.microsoft.com/office/powerpoint/2010/main" val="2656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55EA50A0-200E-1070-2A8E-FBEE7C29DAB9}"/>
              </a:ext>
            </a:extLst>
          </p:cNvPr>
          <p:cNvSpPr txBox="1"/>
          <p:nvPr/>
        </p:nvSpPr>
        <p:spPr>
          <a:xfrm>
            <a:off x="475860" y="266802"/>
            <a:ext cx="4833257" cy="557845"/>
          </a:xfrm>
          <a:prstGeom prst="rect">
            <a:avLst/>
          </a:prstGeom>
        </p:spPr>
        <p:txBody>
          <a:bodyPr vert="horz" wrap="square" lIns="0" tIns="0" rIns="0" bIns="0" rtlCol="0">
            <a:spAutoFit/>
          </a:bodyPr>
          <a:lstStyle/>
          <a:p>
            <a:pPr marL="12700">
              <a:lnSpc>
                <a:spcPts val="4780"/>
              </a:lnSpc>
            </a:pPr>
            <a:r>
              <a:rPr lang="en-IN" sz="2800" b="1" spc="-30" dirty="0">
                <a:latin typeface="Times New Roman"/>
                <a:cs typeface="Times New Roman"/>
              </a:rPr>
              <a:t>CHALLENGES</a:t>
            </a:r>
            <a:endParaRPr sz="2800" b="1" dirty="0">
              <a:latin typeface="Times New Roman"/>
              <a:cs typeface="Times New Roman"/>
            </a:endParaRPr>
          </a:p>
        </p:txBody>
      </p:sp>
      <p:pic>
        <p:nvPicPr>
          <p:cNvPr id="3074" name="Picture 2" descr="Overview | Invertis University">
            <a:extLst>
              <a:ext uri="{FF2B5EF4-FFF2-40B4-BE49-F238E27FC236}">
                <a16:creationId xmlns:a16="http://schemas.microsoft.com/office/drawing/2014/main" id="{B79D68D0-B04A-DDBC-CCC2-0A99CDD2B5F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091723" y="73465"/>
            <a:ext cx="929892" cy="91076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574A12B-015F-5273-FCDD-A8ABA99CD8E4}"/>
              </a:ext>
            </a:extLst>
          </p:cNvPr>
          <p:cNvSpPr txBox="1"/>
          <p:nvPr/>
        </p:nvSpPr>
        <p:spPr>
          <a:xfrm>
            <a:off x="475861" y="1296955"/>
            <a:ext cx="10972800" cy="5016758"/>
          </a:xfrm>
          <a:prstGeom prst="rect">
            <a:avLst/>
          </a:prstGeom>
          <a:noFill/>
        </p:spPr>
        <p:txBody>
          <a:bodyPr wrap="square" rtlCol="0">
            <a:spAutoFit/>
          </a:bodyPr>
          <a:lstStyle/>
          <a:p>
            <a:r>
              <a:rPr lang="en-US" sz="1600" dirty="0"/>
              <a:t>While the development of the AI-Resume Intelligence Hub offers many advantages, several challenges need to be considered:</a:t>
            </a:r>
          </a:p>
          <a:p>
            <a:endParaRPr lang="en-US" sz="1600" dirty="0"/>
          </a:p>
          <a:p>
            <a:r>
              <a:rPr lang="en-US" sz="1600" b="1" dirty="0"/>
              <a:t>1. Handling Unstructured Data:</a:t>
            </a:r>
            <a:br>
              <a:rPr lang="en-US" sz="1600" dirty="0"/>
            </a:br>
            <a:r>
              <a:rPr lang="en-US" sz="1600" dirty="0"/>
              <a:t>Resumes come in different formats and styles, making it difficult for the system to extract accurate and consistent information from all documents.</a:t>
            </a:r>
          </a:p>
          <a:p>
            <a:r>
              <a:rPr lang="en-US" sz="1600" b="1" dirty="0"/>
              <a:t>2. Accuracy of Semantic Analysis:</a:t>
            </a:r>
            <a:br>
              <a:rPr lang="en-US" sz="1600" dirty="0"/>
            </a:br>
            <a:r>
              <a:rPr lang="en-US" sz="1600" dirty="0"/>
              <a:t>AI models may sometimes misinterpret context or fail to fully understand the relevance of certain skills, leading to incorrect candidate evaluation.</a:t>
            </a:r>
          </a:p>
          <a:p>
            <a:r>
              <a:rPr lang="en-US" sz="1600" b="1" dirty="0"/>
              <a:t>3. Bias in AI Models:</a:t>
            </a:r>
            <a:br>
              <a:rPr lang="en-US" sz="1600" dirty="0"/>
            </a:br>
            <a:r>
              <a:rPr lang="en-US" sz="1600" dirty="0"/>
              <a:t>If the training data contains bias, the system may produce unfair results, affecting the neutrality and fairness of the recruitment process.</a:t>
            </a:r>
          </a:p>
          <a:p>
            <a:r>
              <a:rPr lang="en-US" sz="1600" b="1" dirty="0"/>
              <a:t>4. Technical Limitations:</a:t>
            </a:r>
            <a:br>
              <a:rPr lang="en-US" sz="1600" dirty="0"/>
            </a:br>
            <a:r>
              <a:rPr lang="en-US" sz="1600" dirty="0"/>
              <a:t>The system depends on advanced technologies like NLP and LLMs, which require high computational power, proper configuration, and stable performance.</a:t>
            </a:r>
          </a:p>
          <a:p>
            <a:r>
              <a:rPr lang="en-US" sz="1600" b="1" dirty="0"/>
              <a:t>5. Data Privacy and Security:</a:t>
            </a:r>
            <a:br>
              <a:rPr lang="en-US" sz="1600" dirty="0"/>
            </a:br>
            <a:r>
              <a:rPr lang="en-US" sz="1600" dirty="0"/>
              <a:t>Handling sensitive candidate information raises concerns about data protection, requiring strong security measures to prevent misuse or breaches.</a:t>
            </a:r>
          </a:p>
          <a:p>
            <a:r>
              <a:rPr lang="en-US" sz="1600" b="1" dirty="0"/>
              <a:t>6. High Development and Maintenance Cost:</a:t>
            </a:r>
            <a:br>
              <a:rPr lang="en-US" sz="1600" dirty="0"/>
            </a:br>
            <a:r>
              <a:rPr lang="en-US" sz="1600" dirty="0"/>
              <a:t>Building and maintaining such an AI system requires skilled professionals, continuous updates, and significant computational resources.</a:t>
            </a:r>
          </a:p>
        </p:txBody>
      </p:sp>
      <p:cxnSp>
        <p:nvCxnSpPr>
          <p:cNvPr id="10" name="Straight Connector 9">
            <a:extLst>
              <a:ext uri="{FF2B5EF4-FFF2-40B4-BE49-F238E27FC236}">
                <a16:creationId xmlns:a16="http://schemas.microsoft.com/office/drawing/2014/main" id="{BA990900-2126-B080-C9FA-E7C912904737}"/>
              </a:ext>
            </a:extLst>
          </p:cNvPr>
          <p:cNvCxnSpPr/>
          <p:nvPr/>
        </p:nvCxnSpPr>
        <p:spPr>
          <a:xfrm>
            <a:off x="541176" y="984230"/>
            <a:ext cx="7903028" cy="0"/>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7354596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55EA50A0-200E-1070-2A8E-FBEE7C29DAB9}"/>
              </a:ext>
            </a:extLst>
          </p:cNvPr>
          <p:cNvSpPr txBox="1"/>
          <p:nvPr/>
        </p:nvSpPr>
        <p:spPr>
          <a:xfrm>
            <a:off x="475860" y="266802"/>
            <a:ext cx="4833257" cy="557845"/>
          </a:xfrm>
          <a:prstGeom prst="rect">
            <a:avLst/>
          </a:prstGeom>
        </p:spPr>
        <p:txBody>
          <a:bodyPr vert="horz" wrap="square" lIns="0" tIns="0" rIns="0" bIns="0" rtlCol="0">
            <a:spAutoFit/>
          </a:bodyPr>
          <a:lstStyle/>
          <a:p>
            <a:pPr marL="12700">
              <a:lnSpc>
                <a:spcPts val="4780"/>
              </a:lnSpc>
            </a:pPr>
            <a:r>
              <a:rPr lang="en-IN" sz="2800" b="1" spc="-30" dirty="0">
                <a:latin typeface="Times New Roman"/>
                <a:cs typeface="Times New Roman"/>
              </a:rPr>
              <a:t>REQUIREMENTS</a:t>
            </a:r>
            <a:endParaRPr sz="2800" b="1" dirty="0">
              <a:latin typeface="Times New Roman"/>
              <a:cs typeface="Times New Roman"/>
            </a:endParaRPr>
          </a:p>
        </p:txBody>
      </p:sp>
      <p:pic>
        <p:nvPicPr>
          <p:cNvPr id="3074" name="Picture 2" descr="Overview | Invertis University">
            <a:extLst>
              <a:ext uri="{FF2B5EF4-FFF2-40B4-BE49-F238E27FC236}">
                <a16:creationId xmlns:a16="http://schemas.microsoft.com/office/drawing/2014/main" id="{B79D68D0-B04A-DDBC-CCC2-0A99CDD2B5F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091723" y="73465"/>
            <a:ext cx="929892" cy="91076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574A12B-015F-5273-FCDD-A8ABA99CD8E4}"/>
              </a:ext>
            </a:extLst>
          </p:cNvPr>
          <p:cNvSpPr txBox="1"/>
          <p:nvPr/>
        </p:nvSpPr>
        <p:spPr>
          <a:xfrm>
            <a:off x="475860" y="1143814"/>
            <a:ext cx="4042976" cy="5632311"/>
          </a:xfrm>
          <a:prstGeom prst="rect">
            <a:avLst/>
          </a:prstGeom>
          <a:noFill/>
        </p:spPr>
        <p:txBody>
          <a:bodyPr wrap="square" rtlCol="0">
            <a:spAutoFit/>
          </a:bodyPr>
          <a:lstStyle/>
          <a:p>
            <a:r>
              <a:rPr lang="en-IN" sz="1600" b="1" dirty="0"/>
              <a:t> </a:t>
            </a:r>
            <a:r>
              <a:rPr lang="en-IN" sz="2400" b="1" dirty="0"/>
              <a:t>SOFTWARE REQUIREMENTS</a:t>
            </a:r>
          </a:p>
          <a:p>
            <a:endParaRPr lang="en-IN" sz="1600" b="1" dirty="0"/>
          </a:p>
          <a:p>
            <a:r>
              <a:rPr lang="en-IN" sz="1600" b="1" dirty="0"/>
              <a:t>Operating System:</a:t>
            </a:r>
            <a:br>
              <a:rPr lang="en-IN" sz="1600" dirty="0"/>
            </a:br>
            <a:r>
              <a:rPr lang="en-IN" sz="1600" dirty="0"/>
              <a:t>Windows 10/11, macOS, or Linux</a:t>
            </a:r>
          </a:p>
          <a:p>
            <a:r>
              <a:rPr lang="en-IN" sz="1600" b="1" dirty="0"/>
              <a:t>Programming Language:</a:t>
            </a:r>
            <a:br>
              <a:rPr lang="en-IN" sz="1600" dirty="0"/>
            </a:br>
            <a:r>
              <a:rPr lang="en-IN" sz="1600" dirty="0"/>
              <a:t>Python (preferred for AI &amp; Machine Learning development)</a:t>
            </a:r>
          </a:p>
          <a:p>
            <a:r>
              <a:rPr lang="en-IN" sz="1600" b="1" dirty="0"/>
              <a:t>Libraries &amp; Frameworks:</a:t>
            </a:r>
            <a:br>
              <a:rPr lang="en-IN" sz="1600" dirty="0"/>
            </a:br>
            <a:r>
              <a:rPr lang="en-IN" sz="1600" dirty="0" err="1"/>
              <a:t>spaCy</a:t>
            </a:r>
            <a:r>
              <a:rPr lang="en-IN" sz="1600" dirty="0"/>
              <a:t> (for NLP processing)</a:t>
            </a:r>
            <a:br>
              <a:rPr lang="en-IN" sz="1600" dirty="0"/>
            </a:br>
            <a:r>
              <a:rPr lang="en-IN" sz="1600" dirty="0"/>
              <a:t>Sentence Transformers (for semantic similarity)</a:t>
            </a:r>
            <a:br>
              <a:rPr lang="en-IN" sz="1600" dirty="0"/>
            </a:br>
            <a:r>
              <a:rPr lang="en-IN" sz="1600" dirty="0" err="1"/>
              <a:t>LangChain</a:t>
            </a:r>
            <a:r>
              <a:rPr lang="en-IN" sz="1600" dirty="0"/>
              <a:t> (for LLM integration)</a:t>
            </a:r>
            <a:br>
              <a:rPr lang="en-IN" sz="1600" dirty="0"/>
            </a:br>
            <a:r>
              <a:rPr lang="en-IN" sz="1600" dirty="0" err="1"/>
              <a:t>PyPDF</a:t>
            </a:r>
            <a:r>
              <a:rPr lang="en-IN" sz="1600" dirty="0"/>
              <a:t> (for resume parsing)</a:t>
            </a:r>
            <a:br>
              <a:rPr lang="en-IN" sz="1600" dirty="0"/>
            </a:br>
            <a:r>
              <a:rPr lang="en-IN" sz="1600" dirty="0"/>
              <a:t>Scikit-learn (for machine learning utilities)</a:t>
            </a:r>
          </a:p>
          <a:p>
            <a:r>
              <a:rPr lang="en-IN" sz="1600" b="1" dirty="0"/>
              <a:t>Development Tools:</a:t>
            </a:r>
            <a:br>
              <a:rPr lang="en-IN" sz="1600" dirty="0"/>
            </a:br>
            <a:r>
              <a:rPr lang="en-IN" sz="1600" dirty="0"/>
              <a:t>VS Code / PyCharm / </a:t>
            </a:r>
            <a:r>
              <a:rPr lang="en-IN" sz="1600" dirty="0" err="1"/>
              <a:t>Jupyter</a:t>
            </a:r>
            <a:r>
              <a:rPr lang="en-IN" sz="1600" dirty="0"/>
              <a:t> Notebook</a:t>
            </a:r>
          </a:p>
          <a:p>
            <a:r>
              <a:rPr lang="en-IN" sz="1600" b="1" dirty="0"/>
              <a:t>Database (Optional):</a:t>
            </a:r>
            <a:br>
              <a:rPr lang="en-IN" sz="1600" dirty="0"/>
            </a:br>
            <a:r>
              <a:rPr lang="en-IN" sz="1600" dirty="0"/>
              <a:t>MySQL / SQLite (for storing user data and results)</a:t>
            </a:r>
          </a:p>
          <a:p>
            <a:r>
              <a:rPr lang="en-IN" sz="1600" b="1" dirty="0"/>
              <a:t>Web/Interface (if applicable):</a:t>
            </a:r>
            <a:br>
              <a:rPr lang="en-IN" sz="1600" dirty="0"/>
            </a:br>
            <a:r>
              <a:rPr lang="en-IN" sz="1600" dirty="0" err="1"/>
              <a:t>Streamlit</a:t>
            </a:r>
            <a:r>
              <a:rPr lang="en-IN" sz="1600" dirty="0"/>
              <a:t> (for frontend interface)</a:t>
            </a:r>
            <a:br>
              <a:rPr lang="en-IN" sz="1600" dirty="0"/>
            </a:br>
            <a:r>
              <a:rPr lang="en-IN" sz="1600" dirty="0"/>
              <a:t>Flask / Django (for backend development</a:t>
            </a:r>
          </a:p>
        </p:txBody>
      </p:sp>
      <p:cxnSp>
        <p:nvCxnSpPr>
          <p:cNvPr id="10" name="Straight Connector 9">
            <a:extLst>
              <a:ext uri="{FF2B5EF4-FFF2-40B4-BE49-F238E27FC236}">
                <a16:creationId xmlns:a16="http://schemas.microsoft.com/office/drawing/2014/main" id="{BA990900-2126-B080-C9FA-E7C912904737}"/>
              </a:ext>
            </a:extLst>
          </p:cNvPr>
          <p:cNvCxnSpPr/>
          <p:nvPr/>
        </p:nvCxnSpPr>
        <p:spPr>
          <a:xfrm>
            <a:off x="541176" y="984230"/>
            <a:ext cx="7903028" cy="0"/>
          </a:xfrm>
          <a:prstGeom prst="line">
            <a:avLst/>
          </a:prstGeom>
        </p:spPr>
        <p:style>
          <a:lnRef idx="3">
            <a:schemeClr val="accent2"/>
          </a:lnRef>
          <a:fillRef idx="0">
            <a:schemeClr val="accent2"/>
          </a:fillRef>
          <a:effectRef idx="2">
            <a:schemeClr val="accent2"/>
          </a:effectRef>
          <a:fontRef idx="minor">
            <a:schemeClr val="tx1"/>
          </a:fontRef>
        </p:style>
      </p:cxnSp>
      <p:sp>
        <p:nvSpPr>
          <p:cNvPr id="2" name="TextBox 1">
            <a:extLst>
              <a:ext uri="{FF2B5EF4-FFF2-40B4-BE49-F238E27FC236}">
                <a16:creationId xmlns:a16="http://schemas.microsoft.com/office/drawing/2014/main" id="{115F44F3-F565-FC30-AE65-C68C1C03AE95}"/>
              </a:ext>
            </a:extLst>
          </p:cNvPr>
          <p:cNvSpPr txBox="1"/>
          <p:nvPr/>
        </p:nvSpPr>
        <p:spPr>
          <a:xfrm>
            <a:off x="6377907" y="1143814"/>
            <a:ext cx="4132594" cy="5016758"/>
          </a:xfrm>
          <a:prstGeom prst="rect">
            <a:avLst/>
          </a:prstGeom>
          <a:noFill/>
        </p:spPr>
        <p:txBody>
          <a:bodyPr wrap="square" rtlCol="0">
            <a:spAutoFit/>
          </a:bodyPr>
          <a:lstStyle/>
          <a:p>
            <a:r>
              <a:rPr lang="en-IN" b="1" dirty="0"/>
              <a:t> </a:t>
            </a:r>
            <a:r>
              <a:rPr lang="en-IN" sz="2400" b="1" dirty="0"/>
              <a:t>HARDWARE REQUIREMENTS</a:t>
            </a:r>
          </a:p>
          <a:p>
            <a:endParaRPr lang="en-IN" sz="2400" b="1" dirty="0"/>
          </a:p>
          <a:p>
            <a:r>
              <a:rPr lang="en-IN" sz="1600" b="1" dirty="0"/>
              <a:t>Processor:</a:t>
            </a:r>
            <a:br>
              <a:rPr lang="en-IN" sz="1600" dirty="0"/>
            </a:br>
            <a:r>
              <a:rPr lang="en-IN" sz="1600" dirty="0"/>
              <a:t>Intel i5 or higher (recommended for smooth AI processing)</a:t>
            </a:r>
          </a:p>
          <a:p>
            <a:r>
              <a:rPr lang="en-IN" sz="1600" b="1" dirty="0"/>
              <a:t>RAM:</a:t>
            </a:r>
            <a:br>
              <a:rPr lang="en-IN" sz="1600" dirty="0"/>
            </a:br>
            <a:r>
              <a:rPr lang="en-IN" sz="1600" dirty="0"/>
              <a:t>Minimum 8GB RAM (16GB recommended for better performance)</a:t>
            </a:r>
          </a:p>
          <a:p>
            <a:r>
              <a:rPr lang="en-IN" sz="1600" b="1" dirty="0"/>
              <a:t>Storage:</a:t>
            </a:r>
            <a:br>
              <a:rPr lang="en-IN" sz="1600" dirty="0"/>
            </a:br>
            <a:r>
              <a:rPr lang="en-IN" sz="1600" dirty="0"/>
              <a:t>Minimum 256GB SSD (for faster data access and system speed)</a:t>
            </a:r>
          </a:p>
          <a:p>
            <a:r>
              <a:rPr lang="en-IN" sz="1600" b="1" dirty="0"/>
              <a:t>Input Devices:</a:t>
            </a:r>
            <a:br>
              <a:rPr lang="en-IN" sz="1600" dirty="0"/>
            </a:br>
            <a:r>
              <a:rPr lang="en-IN" sz="1600" dirty="0"/>
              <a:t>Keyboard and mouse for user interaction</a:t>
            </a:r>
          </a:p>
          <a:p>
            <a:r>
              <a:rPr lang="en-IN" sz="1600" b="1" dirty="0"/>
              <a:t>Output Devices:</a:t>
            </a:r>
            <a:br>
              <a:rPr lang="en-IN" sz="1600" dirty="0"/>
            </a:br>
            <a:r>
              <a:rPr lang="en-IN" sz="1600" dirty="0"/>
              <a:t>Monitor/display for visualization of results and interface</a:t>
            </a:r>
          </a:p>
          <a:p>
            <a:r>
              <a:rPr lang="en-IN" sz="1600" b="1" dirty="0"/>
              <a:t>Internet Connectivity:</a:t>
            </a:r>
            <a:br>
              <a:rPr lang="en-IN" sz="1600" dirty="0"/>
            </a:br>
            <a:r>
              <a:rPr lang="en-IN" sz="1600" dirty="0"/>
              <a:t>Stable internet connection for API access, model updates, and deployment</a:t>
            </a:r>
          </a:p>
        </p:txBody>
      </p:sp>
    </p:spTree>
    <p:extLst>
      <p:ext uri="{BB962C8B-B14F-4D97-AF65-F5344CB8AC3E}">
        <p14:creationId xmlns:p14="http://schemas.microsoft.com/office/powerpoint/2010/main" val="27506514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55EA50A0-200E-1070-2A8E-FBEE7C29DAB9}"/>
              </a:ext>
            </a:extLst>
          </p:cNvPr>
          <p:cNvSpPr txBox="1"/>
          <p:nvPr/>
        </p:nvSpPr>
        <p:spPr>
          <a:xfrm>
            <a:off x="475860" y="266802"/>
            <a:ext cx="4833257" cy="557845"/>
          </a:xfrm>
          <a:prstGeom prst="rect">
            <a:avLst/>
          </a:prstGeom>
        </p:spPr>
        <p:txBody>
          <a:bodyPr vert="horz" wrap="square" lIns="0" tIns="0" rIns="0" bIns="0" rtlCol="0">
            <a:spAutoFit/>
          </a:bodyPr>
          <a:lstStyle/>
          <a:p>
            <a:pPr marL="12700">
              <a:lnSpc>
                <a:spcPts val="4780"/>
              </a:lnSpc>
            </a:pPr>
            <a:r>
              <a:rPr lang="en-IN" sz="2800" b="1" spc="-30" dirty="0">
                <a:latin typeface="Times New Roman"/>
                <a:cs typeface="Times New Roman"/>
              </a:rPr>
              <a:t>Flow Chart</a:t>
            </a:r>
            <a:endParaRPr sz="2800" b="1" dirty="0">
              <a:latin typeface="Times New Roman"/>
              <a:cs typeface="Times New Roman"/>
            </a:endParaRPr>
          </a:p>
        </p:txBody>
      </p:sp>
      <p:pic>
        <p:nvPicPr>
          <p:cNvPr id="3074" name="Picture 2" descr="Overview | Invertis University">
            <a:extLst>
              <a:ext uri="{FF2B5EF4-FFF2-40B4-BE49-F238E27FC236}">
                <a16:creationId xmlns:a16="http://schemas.microsoft.com/office/drawing/2014/main" id="{B79D68D0-B04A-DDBC-CCC2-0A99CDD2B5F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091723" y="73465"/>
            <a:ext cx="929892" cy="910765"/>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Straight Connector 9">
            <a:extLst>
              <a:ext uri="{FF2B5EF4-FFF2-40B4-BE49-F238E27FC236}">
                <a16:creationId xmlns:a16="http://schemas.microsoft.com/office/drawing/2014/main" id="{BA990900-2126-B080-C9FA-E7C912904737}"/>
              </a:ext>
            </a:extLst>
          </p:cNvPr>
          <p:cNvCxnSpPr/>
          <p:nvPr/>
        </p:nvCxnSpPr>
        <p:spPr>
          <a:xfrm>
            <a:off x="541176" y="984230"/>
            <a:ext cx="7903028" cy="0"/>
          </a:xfrm>
          <a:prstGeom prst="line">
            <a:avLst/>
          </a:prstGeom>
        </p:spPr>
        <p:style>
          <a:lnRef idx="3">
            <a:schemeClr val="accent2"/>
          </a:lnRef>
          <a:fillRef idx="0">
            <a:schemeClr val="accent2"/>
          </a:fillRef>
          <a:effectRef idx="2">
            <a:schemeClr val="accent2"/>
          </a:effectRef>
          <a:fontRef idx="minor">
            <a:schemeClr val="tx1"/>
          </a:fontRef>
        </p:style>
      </p:cxnSp>
      <p:pic>
        <p:nvPicPr>
          <p:cNvPr id="3" name="Picture 2">
            <a:extLst>
              <a:ext uri="{FF2B5EF4-FFF2-40B4-BE49-F238E27FC236}">
                <a16:creationId xmlns:a16="http://schemas.microsoft.com/office/drawing/2014/main" id="{43B23EC4-D10D-7414-2356-87CBA4421A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79405" y="1043428"/>
            <a:ext cx="6273210" cy="5873769"/>
          </a:xfrm>
          <a:prstGeom prst="rect">
            <a:avLst/>
          </a:prstGeom>
        </p:spPr>
      </p:pic>
    </p:spTree>
    <p:extLst>
      <p:ext uri="{BB962C8B-B14F-4D97-AF65-F5344CB8AC3E}">
        <p14:creationId xmlns:p14="http://schemas.microsoft.com/office/powerpoint/2010/main" val="41335345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55EA50A0-200E-1070-2A8E-FBEE7C29DAB9}"/>
              </a:ext>
            </a:extLst>
          </p:cNvPr>
          <p:cNvSpPr txBox="1"/>
          <p:nvPr/>
        </p:nvSpPr>
        <p:spPr>
          <a:xfrm>
            <a:off x="475860" y="266802"/>
            <a:ext cx="5906279" cy="545790"/>
          </a:xfrm>
          <a:prstGeom prst="rect">
            <a:avLst/>
          </a:prstGeom>
        </p:spPr>
        <p:txBody>
          <a:bodyPr vert="horz" wrap="square" lIns="0" tIns="0" rIns="0" bIns="0" rtlCol="0">
            <a:spAutoFit/>
          </a:bodyPr>
          <a:lstStyle/>
          <a:p>
            <a:pPr marL="12700">
              <a:lnSpc>
                <a:spcPts val="4780"/>
              </a:lnSpc>
            </a:pPr>
            <a:r>
              <a:rPr lang="en-IN" sz="2800" b="1" spc="-30" dirty="0">
                <a:latin typeface="Times New Roman"/>
                <a:cs typeface="Times New Roman"/>
              </a:rPr>
              <a:t>BLOCK DIAGRAM</a:t>
            </a:r>
            <a:endParaRPr sz="2800" b="1" dirty="0">
              <a:latin typeface="Times New Roman"/>
              <a:cs typeface="Times New Roman"/>
            </a:endParaRPr>
          </a:p>
        </p:txBody>
      </p:sp>
      <p:pic>
        <p:nvPicPr>
          <p:cNvPr id="3074" name="Picture 2" descr="Overview | Invertis University">
            <a:extLst>
              <a:ext uri="{FF2B5EF4-FFF2-40B4-BE49-F238E27FC236}">
                <a16:creationId xmlns:a16="http://schemas.microsoft.com/office/drawing/2014/main" id="{B79D68D0-B04A-DDBC-CCC2-0A99CDD2B5F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091723" y="73465"/>
            <a:ext cx="929892" cy="910765"/>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Straight Connector 9">
            <a:extLst>
              <a:ext uri="{FF2B5EF4-FFF2-40B4-BE49-F238E27FC236}">
                <a16:creationId xmlns:a16="http://schemas.microsoft.com/office/drawing/2014/main" id="{BA990900-2126-B080-C9FA-E7C912904737}"/>
              </a:ext>
            </a:extLst>
          </p:cNvPr>
          <p:cNvCxnSpPr/>
          <p:nvPr/>
        </p:nvCxnSpPr>
        <p:spPr>
          <a:xfrm>
            <a:off x="541176" y="984230"/>
            <a:ext cx="7903028" cy="0"/>
          </a:xfrm>
          <a:prstGeom prst="line">
            <a:avLst/>
          </a:prstGeom>
        </p:spPr>
        <p:style>
          <a:lnRef idx="3">
            <a:schemeClr val="accent2"/>
          </a:lnRef>
          <a:fillRef idx="0">
            <a:schemeClr val="accent2"/>
          </a:fillRef>
          <a:effectRef idx="2">
            <a:schemeClr val="accent2"/>
          </a:effectRef>
          <a:fontRef idx="minor">
            <a:schemeClr val="tx1"/>
          </a:fontRef>
        </p:style>
      </p:cxnSp>
      <p:pic>
        <p:nvPicPr>
          <p:cNvPr id="3" name="Picture 2">
            <a:extLst>
              <a:ext uri="{FF2B5EF4-FFF2-40B4-BE49-F238E27FC236}">
                <a16:creationId xmlns:a16="http://schemas.microsoft.com/office/drawing/2014/main" id="{CF01ECBC-3E49-9063-382F-CDEC79B402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635" y="1155868"/>
            <a:ext cx="12038730" cy="5702132"/>
          </a:xfrm>
          <a:prstGeom prst="rect">
            <a:avLst/>
          </a:prstGeom>
        </p:spPr>
      </p:pic>
    </p:spTree>
    <p:extLst>
      <p:ext uri="{BB962C8B-B14F-4D97-AF65-F5344CB8AC3E}">
        <p14:creationId xmlns:p14="http://schemas.microsoft.com/office/powerpoint/2010/main" val="15756985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55EA50A0-200E-1070-2A8E-FBEE7C29DAB9}"/>
              </a:ext>
            </a:extLst>
          </p:cNvPr>
          <p:cNvSpPr txBox="1"/>
          <p:nvPr/>
        </p:nvSpPr>
        <p:spPr>
          <a:xfrm>
            <a:off x="475860" y="266802"/>
            <a:ext cx="5906279" cy="545790"/>
          </a:xfrm>
          <a:prstGeom prst="rect">
            <a:avLst/>
          </a:prstGeom>
        </p:spPr>
        <p:txBody>
          <a:bodyPr vert="horz" wrap="square" lIns="0" tIns="0" rIns="0" bIns="0" rtlCol="0">
            <a:spAutoFit/>
          </a:bodyPr>
          <a:lstStyle/>
          <a:p>
            <a:pPr marL="12700">
              <a:lnSpc>
                <a:spcPts val="4780"/>
              </a:lnSpc>
            </a:pPr>
            <a:r>
              <a:rPr lang="en-IN" sz="2800" b="1" spc="-30" dirty="0">
                <a:latin typeface="Times New Roman"/>
                <a:cs typeface="Times New Roman"/>
              </a:rPr>
              <a:t>TOOLS &amp; TECHNOLOGY USED</a:t>
            </a:r>
            <a:endParaRPr sz="2800" b="1" dirty="0">
              <a:latin typeface="Times New Roman"/>
              <a:cs typeface="Times New Roman"/>
            </a:endParaRPr>
          </a:p>
        </p:txBody>
      </p:sp>
      <p:pic>
        <p:nvPicPr>
          <p:cNvPr id="3074" name="Picture 2" descr="Overview | Invertis University">
            <a:extLst>
              <a:ext uri="{FF2B5EF4-FFF2-40B4-BE49-F238E27FC236}">
                <a16:creationId xmlns:a16="http://schemas.microsoft.com/office/drawing/2014/main" id="{B79D68D0-B04A-DDBC-CCC2-0A99CDD2B5F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091723" y="73465"/>
            <a:ext cx="929892" cy="91076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574A12B-015F-5273-FCDD-A8ABA99CD8E4}"/>
              </a:ext>
            </a:extLst>
          </p:cNvPr>
          <p:cNvSpPr txBox="1"/>
          <p:nvPr/>
        </p:nvSpPr>
        <p:spPr>
          <a:xfrm>
            <a:off x="426334" y="1143553"/>
            <a:ext cx="11339331" cy="5447645"/>
          </a:xfrm>
          <a:prstGeom prst="rect">
            <a:avLst/>
          </a:prstGeom>
          <a:noFill/>
        </p:spPr>
        <p:txBody>
          <a:bodyPr wrap="square" rtlCol="0">
            <a:spAutoFit/>
          </a:bodyPr>
          <a:lstStyle/>
          <a:p>
            <a:r>
              <a:rPr lang="en-IN" b="1" dirty="0"/>
              <a:t>Programming &amp; Core Technology</a:t>
            </a:r>
          </a:p>
          <a:p>
            <a:r>
              <a:rPr lang="en-IN" sz="1600" b="1" dirty="0"/>
              <a:t>Python:</a:t>
            </a:r>
            <a:br>
              <a:rPr lang="en-IN" sz="1600" dirty="0"/>
            </a:br>
            <a:r>
              <a:rPr lang="en-IN" sz="1600" dirty="0"/>
              <a:t>Used as the primary programming language for backend development and AI implementation.</a:t>
            </a:r>
          </a:p>
          <a:p>
            <a:r>
              <a:rPr lang="en-IN" b="1" dirty="0"/>
              <a:t>Libraries &amp; Frameworks</a:t>
            </a:r>
          </a:p>
          <a:p>
            <a:r>
              <a:rPr lang="en-IN" sz="1600" b="1" dirty="0" err="1"/>
              <a:t>spaCy</a:t>
            </a:r>
            <a:r>
              <a:rPr lang="en-IN" sz="1600" b="1" dirty="0"/>
              <a:t> : </a:t>
            </a:r>
            <a:r>
              <a:rPr lang="en-IN" sz="1600" dirty="0"/>
              <a:t>For Natural Language Processing and text analysis.</a:t>
            </a:r>
          </a:p>
          <a:p>
            <a:r>
              <a:rPr lang="en-IN" sz="1600" b="1" dirty="0"/>
              <a:t>Sentence Transformers : </a:t>
            </a:r>
            <a:r>
              <a:rPr lang="en-IN" sz="1600" dirty="0"/>
              <a:t>For semantic similarity and candidate-job matching.</a:t>
            </a:r>
          </a:p>
          <a:p>
            <a:r>
              <a:rPr lang="en-IN" sz="1600" b="1" dirty="0" err="1"/>
              <a:t>LangChain</a:t>
            </a:r>
            <a:r>
              <a:rPr lang="en-IN" sz="1600" b="1" dirty="0"/>
              <a:t> : </a:t>
            </a:r>
            <a:r>
              <a:rPr lang="en-IN" sz="1600" dirty="0"/>
              <a:t>For integration with Large Language Models (LLMs).</a:t>
            </a:r>
          </a:p>
          <a:p>
            <a:r>
              <a:rPr lang="en-IN" sz="1600" b="1" dirty="0"/>
              <a:t>Scikit-learn : </a:t>
            </a:r>
            <a:r>
              <a:rPr lang="en-IN" sz="1600" dirty="0"/>
              <a:t>For machine learning utilities and evaluation.</a:t>
            </a:r>
          </a:p>
          <a:p>
            <a:r>
              <a:rPr lang="en-IN" sz="1600" b="1" dirty="0" err="1"/>
              <a:t>PyPDF</a:t>
            </a:r>
            <a:r>
              <a:rPr lang="en-IN" sz="1600" b="1" dirty="0"/>
              <a:t> : </a:t>
            </a:r>
            <a:r>
              <a:rPr lang="en-IN" sz="1600" dirty="0"/>
              <a:t>For extracting text from resume files.</a:t>
            </a:r>
          </a:p>
          <a:p>
            <a:r>
              <a:rPr lang="en-IN" b="1" dirty="0"/>
              <a:t>Frontend &amp; Backend</a:t>
            </a:r>
          </a:p>
          <a:p>
            <a:r>
              <a:rPr lang="en-IN" sz="1600" b="1" dirty="0" err="1"/>
              <a:t>Streamlit</a:t>
            </a:r>
            <a:r>
              <a:rPr lang="en-IN" sz="1600" b="1" dirty="0"/>
              <a:t> : </a:t>
            </a:r>
            <a:r>
              <a:rPr lang="en-IN" sz="1600" dirty="0"/>
              <a:t>For building interactive user interface.</a:t>
            </a:r>
          </a:p>
          <a:p>
            <a:r>
              <a:rPr lang="en-IN" sz="1600" b="1" dirty="0"/>
              <a:t>Flask :</a:t>
            </a:r>
            <a:r>
              <a:rPr lang="en-IN" sz="1600" dirty="0"/>
              <a:t>For backend development (if required).</a:t>
            </a:r>
          </a:p>
          <a:p>
            <a:r>
              <a:rPr lang="en-IN" b="1" dirty="0"/>
              <a:t>Database</a:t>
            </a:r>
          </a:p>
          <a:p>
            <a:r>
              <a:rPr lang="en-IN" sz="1600" b="1" dirty="0"/>
              <a:t>MySQL / SQLite:</a:t>
            </a:r>
            <a:br>
              <a:rPr lang="en-IN" sz="1600" dirty="0"/>
            </a:br>
            <a:r>
              <a:rPr lang="en-IN" sz="1600" dirty="0"/>
              <a:t>For storing user data, resumes, and results.</a:t>
            </a:r>
          </a:p>
          <a:p>
            <a:r>
              <a:rPr lang="en-IN" b="1" dirty="0"/>
              <a:t>Deployment Tools</a:t>
            </a:r>
          </a:p>
          <a:p>
            <a:r>
              <a:rPr lang="en-IN" sz="1600" b="1" dirty="0"/>
              <a:t>Docker:</a:t>
            </a:r>
            <a:br>
              <a:rPr lang="en-IN" sz="1600" dirty="0"/>
            </a:br>
            <a:r>
              <a:rPr lang="en-IN" sz="1600" dirty="0"/>
              <a:t>For containerization and scalable deployment.</a:t>
            </a:r>
          </a:p>
          <a:p>
            <a:r>
              <a:rPr lang="en-IN" b="1" dirty="0"/>
              <a:t>Documentation</a:t>
            </a:r>
          </a:p>
          <a:p>
            <a:r>
              <a:rPr lang="en-IN" sz="1600" b="1" dirty="0"/>
              <a:t>LaTeX:</a:t>
            </a:r>
            <a:br>
              <a:rPr lang="en-IN" sz="1600" dirty="0"/>
            </a:br>
            <a:r>
              <a:rPr lang="en-IN" sz="1600" dirty="0"/>
              <a:t>For generating professional reports and formatted resumes.</a:t>
            </a:r>
          </a:p>
        </p:txBody>
      </p:sp>
      <p:cxnSp>
        <p:nvCxnSpPr>
          <p:cNvPr id="10" name="Straight Connector 9">
            <a:extLst>
              <a:ext uri="{FF2B5EF4-FFF2-40B4-BE49-F238E27FC236}">
                <a16:creationId xmlns:a16="http://schemas.microsoft.com/office/drawing/2014/main" id="{BA990900-2126-B080-C9FA-E7C912904737}"/>
              </a:ext>
            </a:extLst>
          </p:cNvPr>
          <p:cNvCxnSpPr/>
          <p:nvPr/>
        </p:nvCxnSpPr>
        <p:spPr>
          <a:xfrm>
            <a:off x="541176" y="984230"/>
            <a:ext cx="7903028" cy="0"/>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40879217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55EA50A0-200E-1070-2A8E-FBEE7C29DAB9}"/>
              </a:ext>
            </a:extLst>
          </p:cNvPr>
          <p:cNvSpPr txBox="1"/>
          <p:nvPr/>
        </p:nvSpPr>
        <p:spPr>
          <a:xfrm>
            <a:off x="475860" y="266802"/>
            <a:ext cx="5906279" cy="545790"/>
          </a:xfrm>
          <a:prstGeom prst="rect">
            <a:avLst/>
          </a:prstGeom>
        </p:spPr>
        <p:txBody>
          <a:bodyPr vert="horz" wrap="square" lIns="0" tIns="0" rIns="0" bIns="0" rtlCol="0">
            <a:spAutoFit/>
          </a:bodyPr>
          <a:lstStyle/>
          <a:p>
            <a:pPr marL="12700">
              <a:lnSpc>
                <a:spcPts val="4780"/>
              </a:lnSpc>
            </a:pPr>
            <a:r>
              <a:rPr lang="en-IN" sz="2800" b="1" spc="-30" dirty="0">
                <a:latin typeface="Times New Roman"/>
                <a:cs typeface="Times New Roman"/>
              </a:rPr>
              <a:t>PROJECT METHODLOGY</a:t>
            </a:r>
            <a:endParaRPr sz="2800" b="1" dirty="0">
              <a:latin typeface="Times New Roman"/>
              <a:cs typeface="Times New Roman"/>
            </a:endParaRPr>
          </a:p>
        </p:txBody>
      </p:sp>
      <p:pic>
        <p:nvPicPr>
          <p:cNvPr id="3074" name="Picture 2" descr="Overview | Invertis University">
            <a:extLst>
              <a:ext uri="{FF2B5EF4-FFF2-40B4-BE49-F238E27FC236}">
                <a16:creationId xmlns:a16="http://schemas.microsoft.com/office/drawing/2014/main" id="{B79D68D0-B04A-DDBC-CCC2-0A99CDD2B5F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091723" y="73465"/>
            <a:ext cx="929892" cy="91076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574A12B-015F-5273-FCDD-A8ABA99CD8E4}"/>
              </a:ext>
            </a:extLst>
          </p:cNvPr>
          <p:cNvSpPr txBox="1"/>
          <p:nvPr/>
        </p:nvSpPr>
        <p:spPr>
          <a:xfrm>
            <a:off x="475861" y="1296955"/>
            <a:ext cx="10972800" cy="4462760"/>
          </a:xfrm>
          <a:prstGeom prst="rect">
            <a:avLst/>
          </a:prstGeom>
          <a:noFill/>
        </p:spPr>
        <p:txBody>
          <a:bodyPr wrap="square" rtlCol="0">
            <a:spAutoFit/>
          </a:bodyPr>
          <a:lstStyle/>
          <a:p>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r>
              <a:rPr lang="en-US" sz="1600" dirty="0"/>
              <a:t>The AI-Resume Intelligence Hub is developed using an </a:t>
            </a:r>
            <a:r>
              <a:rPr lang="en-US" sz="1600" b="1" dirty="0"/>
              <a:t>Agile Methodology</a:t>
            </a:r>
            <a:r>
              <a:rPr lang="en-US" sz="1600" dirty="0"/>
              <a:t> with an </a:t>
            </a:r>
            <a:r>
              <a:rPr lang="en-US" sz="1600" b="1" dirty="0"/>
              <a:t>Iterative approach</a:t>
            </a:r>
            <a:r>
              <a:rPr lang="en-US" sz="1600" dirty="0"/>
              <a:t> to ensure flexibility, continuous improvement, and efficient development.</a:t>
            </a:r>
          </a:p>
          <a:p>
            <a:endParaRPr lang="en-US" sz="1600" b="1" dirty="0"/>
          </a:p>
          <a:p>
            <a:r>
              <a:rPr lang="en-US" sz="1600" b="1" dirty="0"/>
              <a:t> 1. </a:t>
            </a:r>
            <a:r>
              <a:rPr lang="en-US" b="1" dirty="0"/>
              <a:t>Requirement Analysis</a:t>
            </a:r>
          </a:p>
          <a:p>
            <a:r>
              <a:rPr lang="en-US" sz="1600" dirty="0"/>
              <a:t>Identify user needs, project goals, and system requirements.</a:t>
            </a:r>
          </a:p>
          <a:p>
            <a:r>
              <a:rPr lang="en-US" sz="1600" b="1" dirty="0"/>
              <a:t> </a:t>
            </a:r>
            <a:r>
              <a:rPr lang="en-US" b="1" dirty="0"/>
              <a:t>2. System Design</a:t>
            </a:r>
          </a:p>
          <a:p>
            <a:r>
              <a:rPr lang="en-US" sz="1600" dirty="0"/>
              <a:t>Design architecture, flowcharts, and user interface of the system.</a:t>
            </a:r>
          </a:p>
          <a:p>
            <a:r>
              <a:rPr lang="en-US" b="1" dirty="0"/>
              <a:t> 3. Development</a:t>
            </a:r>
          </a:p>
          <a:p>
            <a:r>
              <a:rPr lang="en-US" sz="1600" dirty="0"/>
              <a:t>Implement modules such as resume parsing, NLP processing, and semantic matching using AI models.</a:t>
            </a:r>
          </a:p>
          <a:p>
            <a:r>
              <a:rPr lang="en-US" b="1" dirty="0"/>
              <a:t> 4. Testing</a:t>
            </a:r>
          </a:p>
          <a:p>
            <a:r>
              <a:rPr lang="en-US" sz="1600" dirty="0"/>
              <a:t>Perform unit testing, integration testing, and system testing to ensure accuracy and performance.</a:t>
            </a:r>
          </a:p>
          <a:p>
            <a:r>
              <a:rPr lang="en-US" b="1" dirty="0"/>
              <a:t> 5. Iteration &amp; Improvement</a:t>
            </a:r>
          </a:p>
          <a:p>
            <a:r>
              <a:rPr lang="en-US" sz="1600" dirty="0"/>
              <a:t>Continuously improve the system based on feedback and testing results.</a:t>
            </a:r>
          </a:p>
          <a:p>
            <a:r>
              <a:rPr lang="en-US" b="1" dirty="0"/>
              <a:t> 6. Deployment</a:t>
            </a:r>
          </a:p>
          <a:p>
            <a:r>
              <a:rPr lang="en-US" sz="1600" dirty="0"/>
              <a:t>Deploy the application using Docker for scalability and easy maintenance.</a:t>
            </a:r>
          </a:p>
        </p:txBody>
      </p:sp>
      <p:cxnSp>
        <p:nvCxnSpPr>
          <p:cNvPr id="10" name="Straight Connector 9">
            <a:extLst>
              <a:ext uri="{FF2B5EF4-FFF2-40B4-BE49-F238E27FC236}">
                <a16:creationId xmlns:a16="http://schemas.microsoft.com/office/drawing/2014/main" id="{BA990900-2126-B080-C9FA-E7C912904737}"/>
              </a:ext>
            </a:extLst>
          </p:cNvPr>
          <p:cNvCxnSpPr/>
          <p:nvPr/>
        </p:nvCxnSpPr>
        <p:spPr>
          <a:xfrm>
            <a:off x="541176" y="984230"/>
            <a:ext cx="7903028" cy="0"/>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8233446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55EA50A0-200E-1070-2A8E-FBEE7C29DAB9}"/>
              </a:ext>
            </a:extLst>
          </p:cNvPr>
          <p:cNvSpPr txBox="1"/>
          <p:nvPr/>
        </p:nvSpPr>
        <p:spPr>
          <a:xfrm>
            <a:off x="475860" y="266802"/>
            <a:ext cx="5906279" cy="545790"/>
          </a:xfrm>
          <a:prstGeom prst="rect">
            <a:avLst/>
          </a:prstGeom>
        </p:spPr>
        <p:txBody>
          <a:bodyPr vert="horz" wrap="square" lIns="0" tIns="0" rIns="0" bIns="0" rtlCol="0">
            <a:spAutoFit/>
          </a:bodyPr>
          <a:lstStyle/>
          <a:p>
            <a:pPr marL="12700">
              <a:lnSpc>
                <a:spcPts val="4780"/>
              </a:lnSpc>
            </a:pPr>
            <a:r>
              <a:rPr lang="en-IN" sz="2800" b="1" spc="-30" dirty="0">
                <a:latin typeface="Times New Roman"/>
                <a:cs typeface="Times New Roman"/>
              </a:rPr>
              <a:t>IMPLEMENTATION</a:t>
            </a:r>
            <a:endParaRPr sz="2800" b="1" dirty="0">
              <a:latin typeface="Times New Roman"/>
              <a:cs typeface="Times New Roman"/>
            </a:endParaRPr>
          </a:p>
        </p:txBody>
      </p:sp>
      <p:pic>
        <p:nvPicPr>
          <p:cNvPr id="3074" name="Picture 2" descr="Overview | Invertis University">
            <a:extLst>
              <a:ext uri="{FF2B5EF4-FFF2-40B4-BE49-F238E27FC236}">
                <a16:creationId xmlns:a16="http://schemas.microsoft.com/office/drawing/2014/main" id="{B79D68D0-B04A-DDBC-CCC2-0A99CDD2B5F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091723" y="73465"/>
            <a:ext cx="929892" cy="91076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574A12B-015F-5273-FCDD-A8ABA99CD8E4}"/>
              </a:ext>
            </a:extLst>
          </p:cNvPr>
          <p:cNvSpPr txBox="1"/>
          <p:nvPr/>
        </p:nvSpPr>
        <p:spPr>
          <a:xfrm>
            <a:off x="475861" y="1296955"/>
            <a:ext cx="10972800" cy="1077218"/>
          </a:xfrm>
          <a:prstGeom prst="rect">
            <a:avLst/>
          </a:prstGeom>
          <a:noFill/>
        </p:spPr>
        <p:txBody>
          <a:bodyPr wrap="square" rtlCol="0">
            <a:spAutoFit/>
          </a:bodyPr>
          <a:lstStyle/>
          <a:p>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r>
              <a:rPr lang="en-IN" sz="1600" dirty="0">
                <a:highlight>
                  <a:srgbClr val="FFFF00"/>
                </a:highlight>
                <a:latin typeface="Times New Roman" panose="02020603050405020304" pitchFamily="18" charset="0"/>
                <a:cs typeface="Times New Roman" panose="02020603050405020304" pitchFamily="18" charset="0"/>
              </a:rPr>
              <a:t>Describe your project’s work very clearly using screenshots of your project. Highly emphasise on this section and you may choose number of ppt slides for the same as per your needs. //10 to 15 ppt slides </a:t>
            </a:r>
          </a:p>
        </p:txBody>
      </p:sp>
      <p:cxnSp>
        <p:nvCxnSpPr>
          <p:cNvPr id="10" name="Straight Connector 9">
            <a:extLst>
              <a:ext uri="{FF2B5EF4-FFF2-40B4-BE49-F238E27FC236}">
                <a16:creationId xmlns:a16="http://schemas.microsoft.com/office/drawing/2014/main" id="{BA990900-2126-B080-C9FA-E7C912904737}"/>
              </a:ext>
            </a:extLst>
          </p:cNvPr>
          <p:cNvCxnSpPr/>
          <p:nvPr/>
        </p:nvCxnSpPr>
        <p:spPr>
          <a:xfrm>
            <a:off x="541176" y="984230"/>
            <a:ext cx="7903028" cy="0"/>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4949875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55EA50A0-200E-1070-2A8E-FBEE7C29DAB9}"/>
              </a:ext>
            </a:extLst>
          </p:cNvPr>
          <p:cNvSpPr txBox="1"/>
          <p:nvPr/>
        </p:nvSpPr>
        <p:spPr>
          <a:xfrm>
            <a:off x="475860" y="266802"/>
            <a:ext cx="5906279" cy="545790"/>
          </a:xfrm>
          <a:prstGeom prst="rect">
            <a:avLst/>
          </a:prstGeom>
        </p:spPr>
        <p:txBody>
          <a:bodyPr vert="horz" wrap="square" lIns="0" tIns="0" rIns="0" bIns="0" rtlCol="0">
            <a:spAutoFit/>
          </a:bodyPr>
          <a:lstStyle/>
          <a:p>
            <a:pPr marL="12700">
              <a:lnSpc>
                <a:spcPts val="4780"/>
              </a:lnSpc>
            </a:pPr>
            <a:r>
              <a:rPr lang="en-IN" sz="2800" b="1" spc="-30" dirty="0">
                <a:latin typeface="Times New Roman"/>
                <a:cs typeface="Times New Roman"/>
              </a:rPr>
              <a:t>TESTING</a:t>
            </a:r>
            <a:endParaRPr sz="2800" b="1" dirty="0">
              <a:latin typeface="Times New Roman"/>
              <a:cs typeface="Times New Roman"/>
            </a:endParaRPr>
          </a:p>
        </p:txBody>
      </p:sp>
      <p:pic>
        <p:nvPicPr>
          <p:cNvPr id="3074" name="Picture 2" descr="Overview | Invertis University">
            <a:extLst>
              <a:ext uri="{FF2B5EF4-FFF2-40B4-BE49-F238E27FC236}">
                <a16:creationId xmlns:a16="http://schemas.microsoft.com/office/drawing/2014/main" id="{B79D68D0-B04A-DDBC-CCC2-0A99CDD2B5F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091723" y="73465"/>
            <a:ext cx="929892" cy="91076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574A12B-015F-5273-FCDD-A8ABA99CD8E4}"/>
              </a:ext>
            </a:extLst>
          </p:cNvPr>
          <p:cNvSpPr txBox="1"/>
          <p:nvPr/>
        </p:nvSpPr>
        <p:spPr>
          <a:xfrm>
            <a:off x="475861" y="1296955"/>
            <a:ext cx="10972800" cy="5262979"/>
          </a:xfrm>
          <a:prstGeom prst="rect">
            <a:avLst/>
          </a:prstGeom>
          <a:noFill/>
        </p:spPr>
        <p:txBody>
          <a:bodyPr wrap="square" rtlCol="0">
            <a:spAutoFit/>
          </a:bodyPr>
          <a:lstStyle/>
          <a:p>
            <a:r>
              <a:rPr lang="en-US" sz="1600" dirty="0"/>
              <a:t>The AI-Resume Intelligence Hub was tested using multiple testing methodologies to ensure accuracy, reliability, and performance of the system.</a:t>
            </a:r>
          </a:p>
          <a:p>
            <a:endParaRPr lang="en-US" sz="1600" dirty="0"/>
          </a:p>
          <a:p>
            <a:r>
              <a:rPr lang="en-US" b="1" dirty="0"/>
              <a:t> 1. Unit Testing</a:t>
            </a:r>
          </a:p>
          <a:p>
            <a:r>
              <a:rPr lang="en-US" sz="1600" dirty="0"/>
              <a:t>Each module such as resume parsing, NLP processing, and scoring was tested individually to ensure correct functionality.</a:t>
            </a:r>
          </a:p>
          <a:p>
            <a:r>
              <a:rPr lang="en-US" sz="1600" b="1" dirty="0"/>
              <a:t> </a:t>
            </a:r>
            <a:r>
              <a:rPr lang="en-US" b="1" dirty="0"/>
              <a:t>2. Integration Testing</a:t>
            </a:r>
          </a:p>
          <a:p>
            <a:r>
              <a:rPr lang="en-US" sz="1600" dirty="0"/>
              <a:t>All modules were integrated and tested together to verify smooth data flow between components like parsing, analysis, and output generation.</a:t>
            </a:r>
          </a:p>
          <a:p>
            <a:r>
              <a:rPr lang="en-US" b="1" dirty="0"/>
              <a:t> 3. System Testing</a:t>
            </a:r>
          </a:p>
          <a:p>
            <a:r>
              <a:rPr lang="en-US" sz="1600" dirty="0"/>
              <a:t>The complete system was tested as a whole to ensure it meets all functional and performance requirements.</a:t>
            </a:r>
          </a:p>
          <a:p>
            <a:r>
              <a:rPr lang="en-US" sz="1600" b="1" dirty="0"/>
              <a:t> </a:t>
            </a:r>
            <a:r>
              <a:rPr lang="en-US" b="1" dirty="0"/>
              <a:t>4. Alpha Testing</a:t>
            </a:r>
          </a:p>
          <a:p>
            <a:r>
              <a:rPr lang="en-US" sz="1600" dirty="0"/>
              <a:t>Initial testing was performed in a controlled environment to identify bugs and improve system stability.</a:t>
            </a:r>
          </a:p>
          <a:p>
            <a:r>
              <a:rPr lang="en-US" b="1" dirty="0"/>
              <a:t> 5. Beta Testing</a:t>
            </a:r>
          </a:p>
          <a:p>
            <a:r>
              <a:rPr lang="en-US" sz="1600" dirty="0"/>
              <a:t>The system was tested with real users to gather feedback and identify usability issues.</a:t>
            </a:r>
          </a:p>
          <a:p>
            <a:r>
              <a:rPr lang="en-US" sz="1600" b="1" dirty="0"/>
              <a:t> </a:t>
            </a:r>
            <a:r>
              <a:rPr lang="en-US" b="1" dirty="0"/>
              <a:t>6. Performance Testing</a:t>
            </a:r>
          </a:p>
          <a:p>
            <a:r>
              <a:rPr lang="en-US" sz="1600" dirty="0"/>
              <a:t>Tested system speed and efficiency while processing multiple resumes simultaneously.</a:t>
            </a:r>
          </a:p>
          <a:p>
            <a:r>
              <a:rPr lang="en-US" b="1" dirty="0"/>
              <a:t> 7. Load Testing</a:t>
            </a:r>
          </a:p>
          <a:p>
            <a:r>
              <a:rPr lang="en-US" sz="1600" dirty="0"/>
              <a:t>Checked system behavior under heavy workload (large number of resumes).</a:t>
            </a:r>
          </a:p>
          <a:p>
            <a:r>
              <a:rPr lang="en-US" b="1" dirty="0"/>
              <a:t> 8. Smoke Testing</a:t>
            </a:r>
          </a:p>
          <a:p>
            <a:r>
              <a:rPr lang="en-US" sz="1600" dirty="0"/>
              <a:t>Basic tests were performed after each update to ensure core functionalities are working properly.</a:t>
            </a:r>
          </a:p>
        </p:txBody>
      </p:sp>
      <p:cxnSp>
        <p:nvCxnSpPr>
          <p:cNvPr id="10" name="Straight Connector 9">
            <a:extLst>
              <a:ext uri="{FF2B5EF4-FFF2-40B4-BE49-F238E27FC236}">
                <a16:creationId xmlns:a16="http://schemas.microsoft.com/office/drawing/2014/main" id="{BA990900-2126-B080-C9FA-E7C912904737}"/>
              </a:ext>
            </a:extLst>
          </p:cNvPr>
          <p:cNvCxnSpPr/>
          <p:nvPr/>
        </p:nvCxnSpPr>
        <p:spPr>
          <a:xfrm>
            <a:off x="541176" y="984230"/>
            <a:ext cx="7903028" cy="0"/>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3476519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55EA50A0-200E-1070-2A8E-FBEE7C29DAB9}"/>
              </a:ext>
            </a:extLst>
          </p:cNvPr>
          <p:cNvSpPr txBox="1"/>
          <p:nvPr/>
        </p:nvSpPr>
        <p:spPr>
          <a:xfrm>
            <a:off x="475860" y="266802"/>
            <a:ext cx="5906279" cy="545790"/>
          </a:xfrm>
          <a:prstGeom prst="rect">
            <a:avLst/>
          </a:prstGeom>
        </p:spPr>
        <p:txBody>
          <a:bodyPr vert="horz" wrap="square" lIns="0" tIns="0" rIns="0" bIns="0" rtlCol="0">
            <a:spAutoFit/>
          </a:bodyPr>
          <a:lstStyle/>
          <a:p>
            <a:pPr marL="12700">
              <a:lnSpc>
                <a:spcPts val="4780"/>
              </a:lnSpc>
            </a:pPr>
            <a:r>
              <a:rPr lang="en-IN" sz="2800" b="1" spc="-30" dirty="0">
                <a:latin typeface="Times New Roman"/>
                <a:cs typeface="Times New Roman"/>
              </a:rPr>
              <a:t>APPLICATIONS</a:t>
            </a:r>
            <a:endParaRPr sz="2800" b="1" dirty="0">
              <a:latin typeface="Times New Roman"/>
              <a:cs typeface="Times New Roman"/>
            </a:endParaRPr>
          </a:p>
        </p:txBody>
      </p:sp>
      <p:pic>
        <p:nvPicPr>
          <p:cNvPr id="3074" name="Picture 2" descr="Overview | Invertis University">
            <a:extLst>
              <a:ext uri="{FF2B5EF4-FFF2-40B4-BE49-F238E27FC236}">
                <a16:creationId xmlns:a16="http://schemas.microsoft.com/office/drawing/2014/main" id="{B79D68D0-B04A-DDBC-CCC2-0A99CDD2B5F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091723" y="73465"/>
            <a:ext cx="929892" cy="91076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574A12B-015F-5273-FCDD-A8ABA99CD8E4}"/>
              </a:ext>
            </a:extLst>
          </p:cNvPr>
          <p:cNvSpPr txBox="1"/>
          <p:nvPr/>
        </p:nvSpPr>
        <p:spPr>
          <a:xfrm>
            <a:off x="475861" y="1296955"/>
            <a:ext cx="10972800" cy="4462760"/>
          </a:xfrm>
          <a:prstGeom prst="rect">
            <a:avLst/>
          </a:prstGeom>
          <a:noFill/>
        </p:spPr>
        <p:txBody>
          <a:bodyPr wrap="square" rtlCol="0">
            <a:spAutoFit/>
          </a:bodyPr>
          <a:lstStyle/>
          <a:p>
            <a:r>
              <a:rPr lang="en-US" sz="1600" dirty="0"/>
              <a:t>The AI-Resume Intelligence Hub can be applied in various domains to improve recruitment efficiency and candidate evaluation:</a:t>
            </a:r>
          </a:p>
          <a:p>
            <a:br>
              <a:rPr lang="en-US" sz="1600" dirty="0"/>
            </a:br>
            <a:endParaRPr lang="en-US" sz="1600" dirty="0"/>
          </a:p>
          <a:p>
            <a:r>
              <a:rPr lang="en-US" b="1" dirty="0"/>
              <a:t> 1. Recruitment &amp; HR Systems</a:t>
            </a:r>
          </a:p>
          <a:p>
            <a:r>
              <a:rPr lang="en-US" sz="1600" dirty="0"/>
              <a:t>Automates resume screening and helps recruiters shortlist candidates efficiently.</a:t>
            </a:r>
            <a:br>
              <a:rPr lang="en-US" sz="1600" dirty="0"/>
            </a:br>
            <a:r>
              <a:rPr lang="en-US" b="1" dirty="0"/>
              <a:t> 2. Job Portals</a:t>
            </a:r>
          </a:p>
          <a:p>
            <a:r>
              <a:rPr lang="en-US" sz="1600" dirty="0"/>
              <a:t>Enhances platforms like job websites by providing intelligent resume matching and ranking.</a:t>
            </a:r>
          </a:p>
          <a:p>
            <a:r>
              <a:rPr lang="en-US" b="1" dirty="0"/>
              <a:t> 3. Corporate Hiring</a:t>
            </a:r>
          </a:p>
          <a:p>
            <a:r>
              <a:rPr lang="en-US" sz="1600" dirty="0"/>
              <a:t>Used by companies to speed up hiring processes and reduce manual workload.</a:t>
            </a:r>
          </a:p>
          <a:p>
            <a:r>
              <a:rPr lang="en-US" sz="1600" b="1" dirty="0"/>
              <a:t> </a:t>
            </a:r>
            <a:r>
              <a:rPr lang="en-US" b="1" dirty="0"/>
              <a:t>4. Career Guidance Platforms</a:t>
            </a:r>
          </a:p>
          <a:p>
            <a:r>
              <a:rPr lang="en-US" sz="1600" dirty="0"/>
              <a:t>Helps students and job seekers improve resumes and prepare for interviews.</a:t>
            </a:r>
          </a:p>
          <a:p>
            <a:r>
              <a:rPr lang="en-US" b="1" dirty="0"/>
              <a:t> 5. Educational Institutions</a:t>
            </a:r>
          </a:p>
          <a:p>
            <a:r>
              <a:rPr lang="en-US" sz="1600" dirty="0"/>
              <a:t>Assists colleges in placement activities by screening and evaluating student resumes.</a:t>
            </a:r>
          </a:p>
          <a:p>
            <a:r>
              <a:rPr lang="en-US" b="1" dirty="0"/>
              <a:t> 6. Resume Optimization Tools</a:t>
            </a:r>
          </a:p>
          <a:p>
            <a:r>
              <a:rPr lang="en-US" sz="1600" dirty="0"/>
              <a:t>Provides suggestions to improve resume quality and ATS compatibility.</a:t>
            </a:r>
          </a:p>
          <a:p>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p:txBody>
      </p:sp>
      <p:cxnSp>
        <p:nvCxnSpPr>
          <p:cNvPr id="10" name="Straight Connector 9">
            <a:extLst>
              <a:ext uri="{FF2B5EF4-FFF2-40B4-BE49-F238E27FC236}">
                <a16:creationId xmlns:a16="http://schemas.microsoft.com/office/drawing/2014/main" id="{BA990900-2126-B080-C9FA-E7C912904737}"/>
              </a:ext>
            </a:extLst>
          </p:cNvPr>
          <p:cNvCxnSpPr/>
          <p:nvPr/>
        </p:nvCxnSpPr>
        <p:spPr>
          <a:xfrm>
            <a:off x="541176" y="984230"/>
            <a:ext cx="7903028" cy="0"/>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8388207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55EA50A0-200E-1070-2A8E-FBEE7C29DAB9}"/>
              </a:ext>
            </a:extLst>
          </p:cNvPr>
          <p:cNvSpPr txBox="1"/>
          <p:nvPr/>
        </p:nvSpPr>
        <p:spPr>
          <a:xfrm>
            <a:off x="475860" y="266802"/>
            <a:ext cx="6512769" cy="545790"/>
          </a:xfrm>
          <a:prstGeom prst="rect">
            <a:avLst/>
          </a:prstGeom>
        </p:spPr>
        <p:txBody>
          <a:bodyPr vert="horz" wrap="square" lIns="0" tIns="0" rIns="0" bIns="0" rtlCol="0">
            <a:spAutoFit/>
          </a:bodyPr>
          <a:lstStyle/>
          <a:p>
            <a:pPr marL="12700">
              <a:lnSpc>
                <a:spcPts val="4780"/>
              </a:lnSpc>
            </a:pPr>
            <a:r>
              <a:rPr lang="en-IN" sz="2800" b="1" spc="-30" dirty="0">
                <a:latin typeface="Times New Roman"/>
                <a:cs typeface="Times New Roman"/>
              </a:rPr>
              <a:t>CONCLUSION AND FUTURE SCOPE</a:t>
            </a:r>
            <a:endParaRPr sz="2800" b="1" dirty="0">
              <a:latin typeface="Times New Roman"/>
              <a:cs typeface="Times New Roman"/>
            </a:endParaRPr>
          </a:p>
        </p:txBody>
      </p:sp>
      <p:pic>
        <p:nvPicPr>
          <p:cNvPr id="3074" name="Picture 2" descr="Overview | Invertis University">
            <a:extLst>
              <a:ext uri="{FF2B5EF4-FFF2-40B4-BE49-F238E27FC236}">
                <a16:creationId xmlns:a16="http://schemas.microsoft.com/office/drawing/2014/main" id="{B79D68D0-B04A-DDBC-CCC2-0A99CDD2B5F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091723" y="73465"/>
            <a:ext cx="929892" cy="91076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574A12B-015F-5273-FCDD-A8ABA99CD8E4}"/>
              </a:ext>
            </a:extLst>
          </p:cNvPr>
          <p:cNvSpPr txBox="1"/>
          <p:nvPr/>
        </p:nvSpPr>
        <p:spPr>
          <a:xfrm>
            <a:off x="475861" y="1296955"/>
            <a:ext cx="9761443" cy="3693319"/>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a:p>
            <a:r>
              <a:rPr lang="en-US" dirty="0"/>
              <a:t>The AI-Resume Intelligence Hub successfully demonstrates an intelligent and automated approach to resume screening by leveraging advanced technologies such as Natural Language Processing and Large Language Models. It improves the efficiency and accuracy of the recruitment process by reducing manual effort, minimizing bias, and enabling better candidate-job matching. The system also provides valuable feedback and additional features like resume optimization and mock interviews, making it beneficial for both recruiters and job seekers.</a:t>
            </a:r>
          </a:p>
          <a:p>
            <a:endParaRPr lang="en-US" dirty="0"/>
          </a:p>
          <a:p>
            <a:r>
              <a:rPr lang="en-US" dirty="0"/>
              <a:t>In the future, the system can be enhanced by integrating it with job portals and enterprise HR platforms for real-time recruitment processes. Additional improvements may include multilingual support for wider accessibility, more advanced AI models for higher accuracy, and the inclusion of video interview analysis. Cloud-based deployment and scalability features can further improve system performance and usability, making it a more powerful and widely applicable solution.</a:t>
            </a:r>
          </a:p>
        </p:txBody>
      </p:sp>
      <p:cxnSp>
        <p:nvCxnSpPr>
          <p:cNvPr id="10" name="Straight Connector 9">
            <a:extLst>
              <a:ext uri="{FF2B5EF4-FFF2-40B4-BE49-F238E27FC236}">
                <a16:creationId xmlns:a16="http://schemas.microsoft.com/office/drawing/2014/main" id="{BA990900-2126-B080-C9FA-E7C912904737}"/>
              </a:ext>
            </a:extLst>
          </p:cNvPr>
          <p:cNvCxnSpPr/>
          <p:nvPr/>
        </p:nvCxnSpPr>
        <p:spPr>
          <a:xfrm>
            <a:off x="541176" y="984230"/>
            <a:ext cx="7903028" cy="0"/>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7009667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55EA50A0-200E-1070-2A8E-FBEE7C29DAB9}"/>
              </a:ext>
            </a:extLst>
          </p:cNvPr>
          <p:cNvSpPr txBox="1"/>
          <p:nvPr/>
        </p:nvSpPr>
        <p:spPr>
          <a:xfrm>
            <a:off x="475860" y="266802"/>
            <a:ext cx="6512769" cy="545790"/>
          </a:xfrm>
          <a:prstGeom prst="rect">
            <a:avLst/>
          </a:prstGeom>
        </p:spPr>
        <p:txBody>
          <a:bodyPr vert="horz" wrap="square" lIns="0" tIns="0" rIns="0" bIns="0" rtlCol="0">
            <a:spAutoFit/>
          </a:bodyPr>
          <a:lstStyle/>
          <a:p>
            <a:pPr marL="12700">
              <a:lnSpc>
                <a:spcPts val="4780"/>
              </a:lnSpc>
            </a:pPr>
            <a:r>
              <a:rPr lang="en-IN" sz="2800" b="1" spc="-30" dirty="0">
                <a:latin typeface="Times New Roman"/>
                <a:cs typeface="Times New Roman"/>
              </a:rPr>
              <a:t>REFERENCES</a:t>
            </a:r>
            <a:endParaRPr sz="2800" b="1" dirty="0">
              <a:latin typeface="Times New Roman"/>
              <a:cs typeface="Times New Roman"/>
            </a:endParaRPr>
          </a:p>
        </p:txBody>
      </p:sp>
      <p:pic>
        <p:nvPicPr>
          <p:cNvPr id="3074" name="Picture 2" descr="Overview | Invertis University">
            <a:extLst>
              <a:ext uri="{FF2B5EF4-FFF2-40B4-BE49-F238E27FC236}">
                <a16:creationId xmlns:a16="http://schemas.microsoft.com/office/drawing/2014/main" id="{B79D68D0-B04A-DDBC-CCC2-0A99CDD2B5F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091723" y="73465"/>
            <a:ext cx="929892" cy="91076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574A12B-015F-5273-FCDD-A8ABA99CD8E4}"/>
              </a:ext>
            </a:extLst>
          </p:cNvPr>
          <p:cNvSpPr txBox="1"/>
          <p:nvPr/>
        </p:nvSpPr>
        <p:spPr>
          <a:xfrm>
            <a:off x="475860" y="2010965"/>
            <a:ext cx="10972800" cy="584775"/>
          </a:xfrm>
          <a:prstGeom prst="rect">
            <a:avLst/>
          </a:prstGeom>
          <a:noFill/>
        </p:spPr>
        <p:txBody>
          <a:bodyPr wrap="square" rtlCol="0">
            <a:spAutoFit/>
          </a:bodyPr>
          <a:lstStyle/>
          <a:p>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p:txBody>
      </p:sp>
      <p:cxnSp>
        <p:nvCxnSpPr>
          <p:cNvPr id="10" name="Straight Connector 9">
            <a:extLst>
              <a:ext uri="{FF2B5EF4-FFF2-40B4-BE49-F238E27FC236}">
                <a16:creationId xmlns:a16="http://schemas.microsoft.com/office/drawing/2014/main" id="{BA990900-2126-B080-C9FA-E7C912904737}"/>
              </a:ext>
            </a:extLst>
          </p:cNvPr>
          <p:cNvCxnSpPr/>
          <p:nvPr/>
        </p:nvCxnSpPr>
        <p:spPr>
          <a:xfrm>
            <a:off x="541176" y="984230"/>
            <a:ext cx="7903028" cy="0"/>
          </a:xfrm>
          <a:prstGeom prst="line">
            <a:avLst/>
          </a:prstGeom>
        </p:spPr>
        <p:style>
          <a:lnRef idx="3">
            <a:schemeClr val="accent2"/>
          </a:lnRef>
          <a:fillRef idx="0">
            <a:schemeClr val="accent2"/>
          </a:fillRef>
          <a:effectRef idx="2">
            <a:schemeClr val="accent2"/>
          </a:effectRef>
          <a:fontRef idx="minor">
            <a:schemeClr val="tx1"/>
          </a:fontRef>
        </p:style>
      </p:cxnSp>
      <p:sp>
        <p:nvSpPr>
          <p:cNvPr id="3" name="TextBox 2">
            <a:extLst>
              <a:ext uri="{FF2B5EF4-FFF2-40B4-BE49-F238E27FC236}">
                <a16:creationId xmlns:a16="http://schemas.microsoft.com/office/drawing/2014/main" id="{1F803C71-C991-769D-8927-77470764BEBD}"/>
              </a:ext>
            </a:extLst>
          </p:cNvPr>
          <p:cNvSpPr txBox="1"/>
          <p:nvPr/>
        </p:nvSpPr>
        <p:spPr>
          <a:xfrm>
            <a:off x="541177" y="1580077"/>
            <a:ext cx="9815398" cy="4524315"/>
          </a:xfrm>
          <a:prstGeom prst="rect">
            <a:avLst/>
          </a:prstGeom>
          <a:noFill/>
        </p:spPr>
        <p:txBody>
          <a:bodyPr wrap="square">
            <a:spAutoFit/>
          </a:bodyPr>
          <a:lstStyle/>
          <a:p>
            <a:r>
              <a:rPr lang="en-IN" dirty="0"/>
              <a:t>[1] P. Cappelli, “Applicant Tracking Systems: The Quiet Revolution in Human Resources,” Harvard Business Review, 2001.</a:t>
            </a:r>
          </a:p>
          <a:p>
            <a:endParaRPr lang="en-IN" dirty="0"/>
          </a:p>
          <a:p>
            <a:r>
              <a:rPr lang="en-IN" dirty="0"/>
              <a:t>[2] J. Devlin et al., “BERT: Pre-training of Deep Bidirectional Transformers for Language Understanding,” </a:t>
            </a:r>
            <a:r>
              <a:rPr lang="en-IN" dirty="0" err="1"/>
              <a:t>arXiv</a:t>
            </a:r>
            <a:r>
              <a:rPr lang="en-IN" dirty="0"/>
              <a:t>, 2018.</a:t>
            </a:r>
          </a:p>
          <a:p>
            <a:endParaRPr lang="en-IN" dirty="0"/>
          </a:p>
          <a:p>
            <a:r>
              <a:rPr lang="en-IN" dirty="0"/>
              <a:t>[3] M. </a:t>
            </a:r>
            <a:r>
              <a:rPr lang="en-IN" dirty="0" err="1"/>
              <a:t>Honnibal</a:t>
            </a:r>
            <a:r>
              <a:rPr lang="en-IN" dirty="0"/>
              <a:t> and I. Montani, “</a:t>
            </a:r>
            <a:r>
              <a:rPr lang="en-IN" dirty="0" err="1"/>
              <a:t>spaCy</a:t>
            </a:r>
            <a:r>
              <a:rPr lang="en-IN" dirty="0"/>
              <a:t> 2: Natural Language Understanding with Python,” 2017.</a:t>
            </a:r>
          </a:p>
          <a:p>
            <a:endParaRPr lang="en-IN" dirty="0"/>
          </a:p>
          <a:p>
            <a:r>
              <a:rPr lang="en-IN" dirty="0"/>
              <a:t>[4] N. Reimers and I. Gurevych, “Sentence-BERT: Sentence Embeddings using Siamese BERT-Networks,” EMNLP, 2019.</a:t>
            </a:r>
          </a:p>
          <a:p>
            <a:endParaRPr lang="en-IN" dirty="0"/>
          </a:p>
          <a:p>
            <a:r>
              <a:rPr lang="en-IN" dirty="0"/>
              <a:t>[5] </a:t>
            </a:r>
            <a:r>
              <a:rPr lang="en-IN" dirty="0" err="1"/>
              <a:t>LangChain</a:t>
            </a:r>
            <a:r>
              <a:rPr lang="en-IN" dirty="0"/>
              <a:t>, “</a:t>
            </a:r>
            <a:r>
              <a:rPr lang="en-IN" dirty="0" err="1"/>
              <a:t>LangChain</a:t>
            </a:r>
            <a:r>
              <a:rPr lang="en-IN" dirty="0"/>
              <a:t> Documentation: Building Applications with Large Language Models,” 2023.</a:t>
            </a:r>
          </a:p>
          <a:p>
            <a:endParaRPr lang="en-IN" dirty="0"/>
          </a:p>
          <a:p>
            <a:r>
              <a:rPr lang="en-IN" dirty="0"/>
              <a:t>[6] </a:t>
            </a:r>
            <a:r>
              <a:rPr lang="en-IN" dirty="0" err="1"/>
              <a:t>Streamlit</a:t>
            </a:r>
            <a:r>
              <a:rPr lang="en-IN" dirty="0"/>
              <a:t> Inc., “</a:t>
            </a:r>
            <a:r>
              <a:rPr lang="en-IN" dirty="0" err="1"/>
              <a:t>Streamlit</a:t>
            </a:r>
            <a:r>
              <a:rPr lang="en-IN" dirty="0"/>
              <a:t> Documentation: The Fastest Way to Build Data Apps,” 2023.</a:t>
            </a:r>
          </a:p>
          <a:p>
            <a:endParaRPr lang="en-IN" dirty="0"/>
          </a:p>
          <a:p>
            <a:r>
              <a:rPr lang="en-IN" dirty="0"/>
              <a:t>[7] S. Russell and P. Norvig, “Artificial Intelligence: A Modern Approach,” 4th Edition, Pearson, 2020.</a:t>
            </a:r>
          </a:p>
        </p:txBody>
      </p:sp>
    </p:spTree>
    <p:extLst>
      <p:ext uri="{BB962C8B-B14F-4D97-AF65-F5344CB8AC3E}">
        <p14:creationId xmlns:p14="http://schemas.microsoft.com/office/powerpoint/2010/main" val="30417608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Overview | Invertis University">
            <a:extLst>
              <a:ext uri="{FF2B5EF4-FFF2-40B4-BE49-F238E27FC236}">
                <a16:creationId xmlns:a16="http://schemas.microsoft.com/office/drawing/2014/main" id="{B79D68D0-B04A-DDBC-CCC2-0A99CDD2B5F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091723" y="73465"/>
            <a:ext cx="929892" cy="91076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574A12B-015F-5273-FCDD-A8ABA99CD8E4}"/>
              </a:ext>
            </a:extLst>
          </p:cNvPr>
          <p:cNvSpPr txBox="1"/>
          <p:nvPr/>
        </p:nvSpPr>
        <p:spPr>
          <a:xfrm>
            <a:off x="475861" y="1296955"/>
            <a:ext cx="10972800" cy="584775"/>
          </a:xfrm>
          <a:prstGeom prst="rect">
            <a:avLst/>
          </a:prstGeom>
          <a:noFill/>
        </p:spPr>
        <p:txBody>
          <a:bodyPr wrap="square" rtlCol="0">
            <a:spAutoFit/>
          </a:bodyPr>
          <a:lstStyle/>
          <a:p>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p:txBody>
      </p:sp>
      <p:cxnSp>
        <p:nvCxnSpPr>
          <p:cNvPr id="10" name="Straight Connector 9">
            <a:extLst>
              <a:ext uri="{FF2B5EF4-FFF2-40B4-BE49-F238E27FC236}">
                <a16:creationId xmlns:a16="http://schemas.microsoft.com/office/drawing/2014/main" id="{BA990900-2126-B080-C9FA-E7C912904737}"/>
              </a:ext>
            </a:extLst>
          </p:cNvPr>
          <p:cNvCxnSpPr/>
          <p:nvPr/>
        </p:nvCxnSpPr>
        <p:spPr>
          <a:xfrm>
            <a:off x="541176" y="984230"/>
            <a:ext cx="7903028" cy="0"/>
          </a:xfrm>
          <a:prstGeom prst="line">
            <a:avLst/>
          </a:prstGeom>
        </p:spPr>
        <p:style>
          <a:lnRef idx="3">
            <a:schemeClr val="accent2"/>
          </a:lnRef>
          <a:fillRef idx="0">
            <a:schemeClr val="accent2"/>
          </a:fillRef>
          <a:effectRef idx="2">
            <a:schemeClr val="accent2"/>
          </a:effectRef>
          <a:fontRef idx="minor">
            <a:schemeClr val="tx1"/>
          </a:fontRef>
        </p:style>
      </p:cxnSp>
      <p:pic>
        <p:nvPicPr>
          <p:cNvPr id="4098" name="Picture 2" descr="Campus Facilities | Invertis University">
            <a:extLst>
              <a:ext uri="{FF2B5EF4-FFF2-40B4-BE49-F238E27FC236}">
                <a16:creationId xmlns:a16="http://schemas.microsoft.com/office/drawing/2014/main" id="{6DB66C43-427D-84F2-1444-C892CBCB70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160982"/>
            <a:ext cx="12192000" cy="509587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6F062C66-869A-D16B-39A6-60A4C9E1E11C}"/>
              </a:ext>
            </a:extLst>
          </p:cNvPr>
          <p:cNvSpPr txBox="1"/>
          <p:nvPr/>
        </p:nvSpPr>
        <p:spPr>
          <a:xfrm>
            <a:off x="3545633" y="1327732"/>
            <a:ext cx="2761861" cy="523220"/>
          </a:xfrm>
          <a:prstGeom prst="rect">
            <a:avLst/>
          </a:prstGeom>
          <a:noFill/>
        </p:spPr>
        <p:txBody>
          <a:bodyPr wrap="square" rtlCol="0">
            <a:spAutoFit/>
          </a:bodyPr>
          <a:lstStyle/>
          <a:p>
            <a:pPr algn="ctr"/>
            <a:r>
              <a:rPr lang="en-IN" sz="2800" b="1" dirty="0">
                <a:solidFill>
                  <a:srgbClr val="FFFF00"/>
                </a:solidFill>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17378039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491</TotalTime>
  <Words>2084</Words>
  <Application>Microsoft Office PowerPoint</Application>
  <PresentationFormat>Widescreen</PresentationFormat>
  <Paragraphs>237</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Calibri Light</vt:lpstr>
      <vt:lpstr>pplxSerif</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ravi singh</dc:creator>
  <cp:lastModifiedBy>shourya saxena</cp:lastModifiedBy>
  <cp:revision>24</cp:revision>
  <cp:lastPrinted>2023-11-03T15:13:17Z</cp:lastPrinted>
  <dcterms:created xsi:type="dcterms:W3CDTF">2023-11-03T13:19:18Z</dcterms:created>
  <dcterms:modified xsi:type="dcterms:W3CDTF">2026-05-07T09:50:57Z</dcterms:modified>
</cp:coreProperties>
</file>